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6" r:id="rId5"/>
    <p:sldId id="267" r:id="rId6"/>
    <p:sldId id="268" r:id="rId7"/>
    <p:sldId id="263" r:id="rId8"/>
    <p:sldId id="27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43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B9C7D6"/>
                </a:solidFill>
              </a:rPr>
              <a:t>Fluxo</a:t>
            </a:r>
            <a:r>
              <a:rPr lang="en-US" sz="1200" dirty="0">
                <a:solidFill>
                  <a:srgbClr val="B9C7D6"/>
                </a:solidFill>
              </a:rPr>
              <a:t> </a:t>
            </a:r>
            <a:r>
              <a:rPr lang="en-US" sz="1200" dirty="0" err="1">
                <a:solidFill>
                  <a:srgbClr val="B9C7D6"/>
                </a:solidFill>
              </a:rPr>
              <a:t>pensado</a:t>
            </a:r>
            <a:r>
              <a:rPr lang="en-US" sz="1200" dirty="0">
                <a:solidFill>
                  <a:srgbClr val="B9C7D6"/>
                </a:solidFill>
              </a:rPr>
              <a:t> para </a:t>
            </a:r>
            <a:r>
              <a:rPr lang="en-US" sz="1200" dirty="0" err="1">
                <a:solidFill>
                  <a:srgbClr val="B9C7D6"/>
                </a:solidFill>
              </a:rPr>
              <a:t>contar</a:t>
            </a:r>
            <a:r>
              <a:rPr lang="en-US" sz="1200" dirty="0">
                <a:solidFill>
                  <a:srgbClr val="B9C7D6"/>
                </a:solidFill>
              </a:rPr>
              <a:t> </a:t>
            </a:r>
            <a:r>
              <a:rPr lang="en-US" sz="1200" dirty="0" err="1">
                <a:solidFill>
                  <a:srgbClr val="B9C7D6"/>
                </a:solidFill>
              </a:rPr>
              <a:t>problema</a:t>
            </a:r>
            <a:r>
              <a:rPr lang="en-US" sz="1200" dirty="0">
                <a:solidFill>
                  <a:srgbClr val="B9C7D6"/>
                </a:solidFill>
              </a:rPr>
              <a:t> → </a:t>
            </a:r>
            <a:r>
              <a:rPr lang="en-US" sz="1200" dirty="0" err="1">
                <a:solidFill>
                  <a:srgbClr val="B9C7D6"/>
                </a:solidFill>
              </a:rPr>
              <a:t>evidência</a:t>
            </a:r>
            <a:r>
              <a:rPr lang="en-US" sz="1200" dirty="0">
                <a:solidFill>
                  <a:srgbClr val="B9C7D6"/>
                </a:solidFill>
              </a:rPr>
              <a:t> → </a:t>
            </a:r>
            <a:r>
              <a:rPr lang="en-US" sz="1200" dirty="0" err="1">
                <a:solidFill>
                  <a:srgbClr val="B9C7D6"/>
                </a:solidFill>
              </a:rPr>
              <a:t>modelo</a:t>
            </a:r>
            <a:r>
              <a:rPr lang="en-US" sz="1200" dirty="0">
                <a:solidFill>
                  <a:srgbClr val="B9C7D6"/>
                </a:solidFill>
              </a:rPr>
              <a:t> → </a:t>
            </a:r>
            <a:r>
              <a:rPr lang="en-US" sz="1200" dirty="0" err="1">
                <a:solidFill>
                  <a:srgbClr val="B9C7D6"/>
                </a:solidFill>
              </a:rPr>
              <a:t>ação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IDA</a:t>
            </a:r>
          </a:p>
          <a:p>
            <a:r>
              <a:rPr lang="pt-BR" dirty="0"/>
              <a:t>O IDA evoluiu positivamente até 2023, com leve queda em 2024. A análise por fase sugere que essa retração foi puxada principalmente pela Fase 7, indicando um ponto de atenção específico nas etapas mais avançadas.</a:t>
            </a:r>
          </a:p>
          <a:p>
            <a:r>
              <a:rPr lang="pt-BR" dirty="0"/>
              <a:t>E a leitura crítica:</a:t>
            </a:r>
          </a:p>
          <a:p>
            <a:r>
              <a:rPr lang="pt-BR" dirty="0"/>
              <a:t>Como a Fase 7 representa alunos em etapa mais avançada, a queda pode estar associada a maior complexidade acadêmica, maior risco de evasão/transição ou menor retenção de alunos com bom desempenho. A base não permite afirmar causalidade, mas sinaliza a Fase 7 como grupo prioritário para investigação.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-------------------------------------------------------------------------------------</a:t>
            </a:r>
          </a:p>
          <a:p>
            <a:r>
              <a:rPr lang="en-US" b="1" dirty="0"/>
              <a:t>IEG</a:t>
            </a:r>
          </a:p>
          <a:p>
            <a:r>
              <a:rPr lang="pt-BR" dirty="0"/>
              <a:t>A análise indica uma relação positiva moderada entre engajamento, desempenho e ponto de virada. O IEG tem correlação de 0,54 com o IDA e 0,56 com o IPV. Além disso, o </a:t>
            </a:r>
            <a:r>
              <a:rPr lang="pt-BR" dirty="0" err="1"/>
              <a:t>boxplot</a:t>
            </a:r>
            <a:r>
              <a:rPr lang="pt-BR" dirty="0"/>
              <a:t> mostra que alunos com maior faixa de engajamento tendem a apresentar IDA mais alto. Porém, como ainda existe dispersão nos dados, o engajamento não explica sozinho o desempenho, mas aparece como um fator relevante na trajetória do aluno.</a:t>
            </a:r>
          </a:p>
          <a:p>
            <a:endParaRPr lang="pt-BR" b="1" dirty="0"/>
          </a:p>
          <a:p>
            <a:r>
              <a:rPr lang="pt-BR" dirty="0"/>
              <a:t>Portanto, há evidência de relação positiva entre engajamento, desempenho e ponto de virada, mas essa relação é moderada, não determinística. O IEG parece ser um fator relevante, mas deve ser analisado em conjunto com outros indicadores acadêmicos, psicopedagógicos e sociais.</a:t>
            </a:r>
            <a:endParaRPr lang="pt-BR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1F53-7879-D950-AF83-A78B0F63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8E160-D105-5862-040B-BA11C49E1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A0DF9-9ED9-DEB6-6C00-87718A6FB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S" sz="1200" b="1" dirty="0">
                <a:solidFill>
                  <a:srgbClr val="FFFFFF"/>
                </a:solidFill>
              </a:rPr>
              <a:t>IAA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IAA apresentou baixa correlação com IDA e IEG, indicando que a percepção dos alunos sobre si mesmos não acompanha de forma consistente os indicadores objetivos de desempenho e engajamento. O </a:t>
            </a:r>
            <a:r>
              <a:rPr lang="pt-BR" dirty="0" err="1"/>
              <a:t>boxplot</a:t>
            </a:r>
            <a:r>
              <a:rPr lang="pt-BR" dirty="0"/>
              <a:t> sugere leve aumento do IDA nas faixas mais altas de autoavaliação, mas há forte sobreposição entre os grupos, sem destaque estatístico claro.</a:t>
            </a:r>
            <a:endParaRPr lang="en-A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S" dirty="0"/>
              <a:t>------------------------------------------------------------------------------------------------------------------------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S" b="1" dirty="0"/>
              <a:t>IPS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Não foram identificados padrões psicossociais fortes que antecedam quedas no IDA ou no IEG. Os </a:t>
            </a:r>
            <a:r>
              <a:rPr lang="pt-BR" dirty="0" err="1"/>
              <a:t>boxplots</a:t>
            </a:r>
            <a:r>
              <a:rPr lang="pt-BR" dirty="0"/>
              <a:t> mostram grande sobreposição entre alunos com e sem queda futura, indicando que o IPS anterior, isoladamente, não diferencia de forma clara os grupos.</a:t>
            </a:r>
            <a:endParaRPr lang="en-A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S" dirty="0"/>
              <a:t>------------------------------------------------------------------------------------------------------------------------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S" dirty="0"/>
              <a:t>IPP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IPP x Defasagem:</a:t>
            </a:r>
            <a:r>
              <a:rPr lang="pt-BR" dirty="0"/>
              <a:t> relação positiva fraca/moderada.</a:t>
            </a:r>
            <a:br>
              <a:rPr lang="pt-BR" dirty="0"/>
            </a:br>
            <a:r>
              <a:rPr lang="pt-BR" dirty="0"/>
              <a:t>O IPP tende a aumentar conforme a defasagem diminui, mas há alta sobreposição entre os grupos, sem separação expressiva.</a:t>
            </a:r>
            <a:endParaRPr lang="en-A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avaliações psicopedagógicas apresentam uma coerência parcial com a defasagem identificada. Observa-se uma tendência de aumento do IPP conforme o perfil de defasagem melhora: alunos com defasagem moderada/severa tendem a apresentar IPP menor, enquanto alunos adequados ou adiantados apresentam IPP ligeiramente maior. No entanto, as distribuições se sobrepõem bastante, indicando que o IPP não confirma a defasagem de forma isolada ou determinística.</a:t>
            </a:r>
            <a:endParaRPr lang="en-A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S" dirty="0"/>
              <a:t>-----------------------------------------------------------------------------------------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IPV</a:t>
            </a:r>
          </a:p>
          <a:p>
            <a:r>
              <a:rPr lang="pt-BR" dirty="0"/>
              <a:t>A análise indica que o IPV está mais associado aos indicadores psicopedagógicos, de engajamento e de desempenho acadêmico. O IPP apresenta a maior correlação com o IPV, com valor de 0,61, sugerindo que aspectos psicopedagógicos têm forte relação com o ponto de virada. Em seguida, aparecem o IEG e o IDA, ambos com correlação de 0,56, indicando que engajamento e desempenho acadêmico também caminham de forma relevante junto ao IPV.</a:t>
            </a:r>
          </a:p>
          <a:p>
            <a:r>
              <a:rPr lang="pt-BR" dirty="0"/>
              <a:t>Sobre o gráfico temporal:</a:t>
            </a:r>
          </a:p>
          <a:p>
            <a:r>
              <a:rPr lang="pt-BR" dirty="0"/>
              <a:t>Ao longo do tempo, observa-se que IPV, IEG e IDA tiveram crescimento em 2023 e queda em 2024, indicando uma movimentação parecida entre esses indicadores. Isso reforça a ideia de que o ponto de virada está conectado à trajetória de engajamento e desempenho do aluno.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IPV apresenta maior associação com o IPP, seguido por IEG e IDA. Isso sugere que o ponto de virada está mais conectado a fatores psicopedagógicos, engajamento e desempenho acadêmico. Ao longo do tempo, IPV, IEG e IDA seguem trajetórias semelhantes, com melhora em 2023 e retração em 2024. Já o IPP deve ser interpretado com cautela, pois não possui dados em 2022.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7AB86-8C6E-40B2-1080-8E1FA7C8B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25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7D54-1A29-C9B4-FDF0-05F078D0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95CEF-C076-F99D-42CF-2A74CAA66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AFC7D-136B-1100-48E7-F07DCD216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</a:rPr>
              <a:t>INDE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combinações que mais elevam o INDE são aquelas em que os indicadores estão simultaneamente em faixas altas. No cruzamento entre IDA e IEG, o maior INDE médio ocorre em </a:t>
            </a:r>
            <a:r>
              <a:rPr lang="pt-BR" b="1" dirty="0"/>
              <a:t>Alto IDA + Alto IEG</a:t>
            </a:r>
            <a:r>
              <a:rPr lang="pt-BR" dirty="0"/>
              <a:t>, com média de </a:t>
            </a:r>
            <a:r>
              <a:rPr lang="pt-BR" b="1" dirty="0"/>
              <a:t>8,36</a:t>
            </a:r>
            <a:r>
              <a:rPr lang="pt-BR" dirty="0"/>
              <a:t>. Isso indica que a nota global do aluno é mais favorecida quando desempenho acadêmico e engajamento caminham juntos.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No cruzamento entre IPS e IPP, o maior INDE médio ocorre em </a:t>
            </a:r>
            <a:r>
              <a:rPr lang="pt-BR" b="1" dirty="0"/>
              <a:t>Alto IPS + Alto IPP</a:t>
            </a:r>
            <a:r>
              <a:rPr lang="pt-BR" dirty="0"/>
              <a:t>, com média de </a:t>
            </a:r>
            <a:r>
              <a:rPr lang="pt-BR" b="1" dirty="0"/>
              <a:t>8,28</a:t>
            </a:r>
            <a:r>
              <a:rPr lang="pt-BR" dirty="0"/>
              <a:t>. Porém, o efeito visual parece mais forte para o IPP: mesmo quando o IPS é baixo, alunos com alto IPP apresentam INDE médio maior do que alunos com baixo IPP. Isso sugere que o componente psicopedagógico tem maior peso prático nessa combinação.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INDE aumenta conforme melhoram simultaneamente os indicadores de desempenho, engajamento e acompanhamento psicopedagógico. A combinação mais forte é </a:t>
            </a:r>
            <a:r>
              <a:rPr lang="pt-BR" b="1" dirty="0"/>
              <a:t>Alto IDA + Alto IEG</a:t>
            </a:r>
            <a:r>
              <a:rPr lang="pt-BR" dirty="0"/>
              <a:t>, seguida por </a:t>
            </a:r>
            <a:r>
              <a:rPr lang="pt-BR" b="1" dirty="0"/>
              <a:t>Alto IPS + Alto IPP</a:t>
            </a:r>
            <a:r>
              <a:rPr lang="pt-BR" dirty="0"/>
              <a:t>, reforçando que os melhores resultados globais aparecem quando dimensões acadêmicas e de suporte evoluem juntas.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dirty="0"/>
              <a:t>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/>
              <a:t>Pedras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distribuição das pedras indica uma melhora no perfil geral dos alunos ao longo dos anos, com crescimento expressivo da categoria Topázio e manutenção de grande concentração em Ametista. Além disso, a categoria Ágata deixa de aparecer nos anos mais recentes, o que sugere redução de alunos em faixas intermediárias inferiores. No entanto, ainda há presença relevante de Quartzo em 2024, indicando que parte da base permanece em ponto de atenção.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Apesar do comportamento positivo na distribuição das pedras, essa análise não permite afirmar causalidade direta do programa, pois a composição da base muda ao longo dos anos com entrada e evasão de alunos. Portanto, o gráfico sugere melhora no perfil de desempenho, mas deve ser interpretado como evidência descritiva, não como prova isolada de impacto.</a:t>
            </a:r>
            <a:endParaRPr lang="en-US" sz="1200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415E4-280E-C854-74DA-7D7AC01FF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92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A4DB-F1BF-6AFB-B3A6-2A7320DE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87CB9-A041-7D0A-2237-BBD177625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AF090-DCF5-233E-9970-9BA52617F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Com base nos padrões observados nas análises anteriores, o modelo preditivo foi construído utilizando indicadores acadêmicos, comportamentais e psicossociais. A hipótese central é que alunos com menor adequação ao nível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IAN</a:t>
            </a:r>
            <a:r>
              <a:rPr lang="pt-BR" dirty="0"/>
              <a:t>), menor desempenho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IDA</a:t>
            </a:r>
            <a:r>
              <a:rPr lang="pt-BR" dirty="0"/>
              <a:t>), menor engajamento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IEG</a:t>
            </a:r>
            <a:r>
              <a:rPr lang="pt-BR" dirty="0"/>
              <a:t>) e menor ponto de virada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IPV</a:t>
            </a:r>
            <a:r>
              <a:rPr lang="pt-BR" dirty="0"/>
              <a:t>) apresentam maior probabilidade de risco de defasagem.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A0EEB-DE35-631A-AF5C-4FC6364EF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73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relatórios PEDE indicam que a Associação Passos Mágicos possui alta capacidade de entrada de novos estudantes, mas também enfrenta um desafio relevante de retenção. Em 2022, houve crescimento no número total de alunos avaliados, porém a taxa de evasão entre 2021 e 2022 foi de 28%, com 205 estudantes evadidos. Além disso, a distribuição por fases sugere uma estrutura semelhante a um funil, com maior concentração de ingressantes nas fases iniciais e menor presença relativa nas fases mais avançadas.</a:t>
            </a:r>
          </a:p>
          <a:p>
            <a:endParaRPr lang="pt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hipótese interpretativa é que a permanência do aluno dependa não apenas da qualidade pedagógica do programa, mas também da capacidade de conciliar a escola regular com as atividades complementares da Associação. Como o público atendido é majoritariamente de escola pública e em contexto de vulnerabilidade, fatores externos como rotina familiar, deslocamento, necessidade de trabalho, cansaço e disponibilidade dos responsáveis podem afetar a continuidade.</a:t>
            </a:r>
          </a:p>
          <a:p>
            <a:endParaRPr lang="pt-P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Dessa forma, o modelo preditivo foi estruturado para identificar risco futuro considerando queda acadêmica, queda de engajamento, piora da defasagem ou ausência do aluno no ano seguinte. Essa abordagem conecta a modelagem aos achados dos relatórios PEDE e ao problema real de negócio: apoiar ações preventivas para reduzir perda de alunos e priorizar acompanhamentos antes da consolidação da evasão ou da queda de desempenho.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3868F-6111-0249-3E1B-0E288445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CB50D-5630-A6A2-4074-143E7E624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124E7-AD28-5D1F-416B-08D8AFF5B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785B6-0A45-69B5-B3E4-4D8F827A4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8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png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11" Type="http://schemas.openxmlformats.org/officeDocument/2006/relationships/image" Target="../media/image2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30917">
              <a:alpha val="82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/>
          <p:cNvSpPr/>
          <p:nvPr/>
        </p:nvSpPr>
        <p:spPr>
          <a:xfrm>
            <a:off x="713232" y="192024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Risco 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Defasagem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49808" y="34930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AS" sz="1700" dirty="0" err="1">
                <a:solidFill>
                  <a:srgbClr val="EAF6FF"/>
                </a:solidFill>
              </a:rPr>
              <a:t>Projeto</a:t>
            </a:r>
            <a:r>
              <a:rPr lang="en-AS" sz="1700" dirty="0">
                <a:solidFill>
                  <a:srgbClr val="EAF6FF"/>
                </a:solidFill>
              </a:rPr>
              <a:t> de </a:t>
            </a:r>
            <a:r>
              <a:rPr lang="en-US" sz="1700" dirty="0" err="1">
                <a:solidFill>
                  <a:srgbClr val="EAF6FF"/>
                </a:solidFill>
              </a:rPr>
              <a:t>Análise</a:t>
            </a:r>
            <a:r>
              <a:rPr lang="en-US" sz="1700" dirty="0">
                <a:solidFill>
                  <a:srgbClr val="EAF6FF"/>
                </a:solidFill>
              </a:rPr>
              <a:t> preditiva para identificação de alunos em </a:t>
            </a:r>
            <a:r>
              <a:rPr lang="en-US" sz="1700" dirty="0" err="1">
                <a:solidFill>
                  <a:srgbClr val="EAF6FF"/>
                </a:solidFill>
              </a:rPr>
              <a:t>risco</a:t>
            </a:r>
            <a:r>
              <a:rPr lang="en-US" sz="1700" dirty="0">
                <a:solidFill>
                  <a:srgbClr val="EAF6FF"/>
                </a:solidFill>
              </a:rPr>
              <a:t> </a:t>
            </a:r>
            <a:r>
              <a:rPr lang="en-US" sz="1700" dirty="0" err="1">
                <a:solidFill>
                  <a:srgbClr val="EAF6FF"/>
                </a:solidFill>
              </a:rPr>
              <a:t>acadêmico</a:t>
            </a:r>
            <a:r>
              <a:rPr lang="en-AS" sz="1700" dirty="0">
                <a:solidFill>
                  <a:srgbClr val="EAF6FF"/>
                </a:solidFill>
              </a:rPr>
              <a:t>, e </a:t>
            </a:r>
            <a:r>
              <a:rPr lang="pt-BR" sz="1700" dirty="0">
                <a:solidFill>
                  <a:srgbClr val="EAF6FF"/>
                </a:solidFill>
              </a:rPr>
              <a:t>análise de comportamentos.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543568" y="595377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7D6"/>
                </a:solidFill>
              </a:rPr>
              <a:t>DATATHON - 2026</a:t>
            </a:r>
            <a:endParaRPr lang="en-US" sz="10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A7CA730-2F43-9BC0-5B76-3F0AC033F343}"/>
              </a:ext>
            </a:extLst>
          </p:cNvPr>
          <p:cNvSpPr/>
          <p:nvPr/>
        </p:nvSpPr>
        <p:spPr>
          <a:xfrm>
            <a:off x="3543568" y="56928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S" sz="1050" dirty="0">
                <a:solidFill>
                  <a:srgbClr val="B9C7D6"/>
                </a:solidFill>
              </a:rPr>
              <a:t>Andr</a:t>
            </a:r>
            <a:r>
              <a:rPr lang="pt-BR" sz="1050" dirty="0">
                <a:solidFill>
                  <a:srgbClr val="B9C7D6"/>
                </a:solidFill>
              </a:rPr>
              <a:t>é Coimbra</a:t>
            </a:r>
            <a:endParaRPr lang="en-US" sz="105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30B7864-C298-1A92-8A03-5DFA15D094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71" t="12555" r="32362" b="26449"/>
          <a:stretch>
            <a:fillRect/>
          </a:stretch>
        </p:blipFill>
        <p:spPr>
          <a:xfrm>
            <a:off x="101085" y="6289417"/>
            <a:ext cx="501570" cy="415824"/>
          </a:xfrm>
          <a:prstGeom prst="rect">
            <a:avLst/>
          </a:prstGeom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E6D8E4F-EC2B-07D6-4394-4DF6B15D565D}"/>
              </a:ext>
            </a:extLst>
          </p:cNvPr>
          <p:cNvGrpSpPr>
            <a:grpSpLocks noChangeAspect="1"/>
          </p:cNvGrpSpPr>
          <p:nvPr/>
        </p:nvGrpSpPr>
        <p:grpSpPr>
          <a:xfrm>
            <a:off x="11401548" y="6375085"/>
            <a:ext cx="689367" cy="342074"/>
            <a:chOff x="307910" y="1699121"/>
            <a:chExt cx="1893050" cy="1044157"/>
          </a:xfrm>
        </p:grpSpPr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A14B7D2A-A5D8-91BC-D966-BE4F0FE7D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8EAB61B2-86CB-6C23-0CAA-9708FA6C0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7">
              <a:alpha val="68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4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7315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da apresentação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254643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D7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417320" y="2711028"/>
            <a:ext cx="502920" cy="0"/>
          </a:xfrm>
          <a:prstGeom prst="line">
            <a:avLst/>
          </a:prstGeom>
          <a:noFill/>
          <a:ln w="12700">
            <a:solidFill>
              <a:srgbClr val="2EA7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1"/>
          <p:cNvSpPr/>
          <p:nvPr/>
        </p:nvSpPr>
        <p:spPr>
          <a:xfrm>
            <a:off x="2057400" y="25281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51960" y="254643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B9C7D6"/>
                </a:solidFill>
              </a:rPr>
              <a:t>Respostas</a:t>
            </a:r>
            <a:r>
              <a:rPr lang="en-US" sz="1150" dirty="0">
                <a:solidFill>
                  <a:srgbClr val="B9C7D6"/>
                </a:solidFill>
              </a:rPr>
              <a:t> das </a:t>
            </a:r>
            <a:r>
              <a:rPr lang="en-US" sz="1150" dirty="0" err="1">
                <a:solidFill>
                  <a:srgbClr val="B9C7D6"/>
                </a:solidFill>
              </a:rPr>
              <a:t>Perguntas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32596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D7FF"/>
                </a:solidFill>
              </a:rPr>
              <a:t>05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417320" y="3424260"/>
            <a:ext cx="502920" cy="0"/>
          </a:xfrm>
          <a:prstGeom prst="line">
            <a:avLst/>
          </a:prstGeom>
          <a:noFill/>
          <a:ln w="12700">
            <a:solidFill>
              <a:srgbClr val="2EA7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5"/>
          <p:cNvSpPr/>
          <p:nvPr/>
        </p:nvSpPr>
        <p:spPr>
          <a:xfrm>
            <a:off x="2057400" y="32413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Critérios de risco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51960" y="32596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 err="1">
                <a:solidFill>
                  <a:srgbClr val="B9C7D6"/>
                </a:solidFill>
              </a:rPr>
              <a:t>Padrões</a:t>
            </a:r>
            <a:r>
              <a:rPr lang="en-US" sz="1150" dirty="0">
                <a:solidFill>
                  <a:srgbClr val="B9C7D6"/>
                </a:solidFill>
              </a:rPr>
              <a:t> de Alunos de Risco </a:t>
            </a:r>
            <a:r>
              <a:rPr lang="en-US" sz="1150" dirty="0" err="1">
                <a:solidFill>
                  <a:srgbClr val="B9C7D6"/>
                </a:solidFill>
              </a:rPr>
              <a:t>Defasagem</a:t>
            </a:r>
            <a:endParaRPr lang="en-US" sz="1150" dirty="0">
              <a:solidFill>
                <a:srgbClr val="B9C7D6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822960" y="39729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D7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417320" y="4137492"/>
            <a:ext cx="502920" cy="0"/>
          </a:xfrm>
          <a:prstGeom prst="line">
            <a:avLst/>
          </a:prstGeom>
          <a:noFill/>
          <a:ln w="12700">
            <a:solidFill>
              <a:srgbClr val="2EA7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3"/>
          <p:cNvSpPr/>
          <p:nvPr/>
        </p:nvSpPr>
        <p:spPr>
          <a:xfrm>
            <a:off x="2057400" y="3932395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Insights e plano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251960" y="39683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7D6"/>
                </a:solidFill>
              </a:rPr>
              <a:t>Recomendações operacionais</a:t>
            </a:r>
            <a:endParaRPr lang="en-US" sz="115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E988EFE4-DBD2-BB01-BAA8-714947973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71" t="12555" r="32362" b="26449"/>
          <a:stretch>
            <a:fillRect/>
          </a:stretch>
        </p:blipFill>
        <p:spPr>
          <a:xfrm>
            <a:off x="101085" y="6289417"/>
            <a:ext cx="501570" cy="415824"/>
          </a:xfrm>
          <a:prstGeom prst="rect">
            <a:avLst/>
          </a:prstGeom>
        </p:spPr>
      </p:pic>
      <p:grpSp>
        <p:nvGrpSpPr>
          <p:cNvPr id="36" name="Agrupar 35">
            <a:extLst>
              <a:ext uri="{FF2B5EF4-FFF2-40B4-BE49-F238E27FC236}">
                <a16:creationId xmlns:a16="http://schemas.microsoft.com/office/drawing/2014/main" id="{B1FB0FE8-7DBB-2A3F-8B84-7AE1A234AC7E}"/>
              </a:ext>
            </a:extLst>
          </p:cNvPr>
          <p:cNvGrpSpPr>
            <a:grpSpLocks noChangeAspect="1"/>
          </p:cNvGrpSpPr>
          <p:nvPr/>
        </p:nvGrpSpPr>
        <p:grpSpPr>
          <a:xfrm>
            <a:off x="11401548" y="6375085"/>
            <a:ext cx="689367" cy="342074"/>
            <a:chOff x="307910" y="1699121"/>
            <a:chExt cx="1893050" cy="1044157"/>
          </a:xfrm>
        </p:grpSpPr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916293F3-4B63-F14E-9DE5-C9837A616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38" name="Imagem 37">
              <a:extLst>
                <a:ext uri="{FF2B5EF4-FFF2-40B4-BE49-F238E27FC236}">
                  <a16:creationId xmlns:a16="http://schemas.microsoft.com/office/drawing/2014/main" id="{B608491B-CF62-E558-7018-ADE26C925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7">
              <a:alpha val="62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4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7D6"/>
                </a:solidFill>
              </a:rPr>
              <a:t>02</a:t>
            </a:r>
            <a:endParaRPr lang="en-US" sz="800" dirty="0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A121B323-A6D0-CBB8-54EC-1471DD65105E}"/>
              </a:ext>
            </a:extLst>
          </p:cNvPr>
          <p:cNvGrpSpPr/>
          <p:nvPr/>
        </p:nvGrpSpPr>
        <p:grpSpPr>
          <a:xfrm>
            <a:off x="-45720" y="724860"/>
            <a:ext cx="11725050" cy="5230993"/>
            <a:chOff x="25398" y="1128659"/>
            <a:chExt cx="11725050" cy="5230993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CAB34DA3-E613-FAF4-6172-748C0CCB023E}"/>
                </a:ext>
              </a:extLst>
            </p:cNvPr>
            <p:cNvGrpSpPr/>
            <p:nvPr/>
          </p:nvGrpSpPr>
          <p:grpSpPr>
            <a:xfrm>
              <a:off x="402892" y="1328928"/>
              <a:ext cx="1508760" cy="1682496"/>
              <a:chOff x="319532" y="1037336"/>
              <a:chExt cx="1508760" cy="1682496"/>
            </a:xfrm>
          </p:grpSpPr>
          <p:grpSp>
            <p:nvGrpSpPr>
              <p:cNvPr id="32" name="Agrupar 31">
                <a:extLst>
                  <a:ext uri="{FF2B5EF4-FFF2-40B4-BE49-F238E27FC236}">
                    <a16:creationId xmlns:a16="http://schemas.microsoft.com/office/drawing/2014/main" id="{B06B07CE-C051-610B-8638-6E404454CD5E}"/>
                  </a:ext>
                </a:extLst>
              </p:cNvPr>
              <p:cNvGrpSpPr/>
              <p:nvPr/>
            </p:nvGrpSpPr>
            <p:grpSpPr>
              <a:xfrm>
                <a:off x="539496" y="1037336"/>
                <a:ext cx="960120" cy="960120"/>
                <a:chOff x="539496" y="1037336"/>
                <a:chExt cx="960120" cy="960120"/>
              </a:xfrm>
            </p:grpSpPr>
            <p:sp>
              <p:nvSpPr>
                <p:cNvPr id="8" name="Shape 5"/>
                <p:cNvSpPr/>
                <p:nvPr/>
              </p:nvSpPr>
              <p:spPr>
                <a:xfrm>
                  <a:off x="539496" y="1037336"/>
                  <a:ext cx="960120" cy="960120"/>
                </a:xfrm>
                <a:prstGeom prst="ellipse">
                  <a:avLst/>
                </a:prstGeom>
                <a:solidFill>
                  <a:srgbClr val="2EA7FF">
                    <a:alpha val="95000"/>
                  </a:srgbClr>
                </a:solidFill>
                <a:ln w="12700">
                  <a:solidFill>
                    <a:srgbClr val="2EA7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9" name="Text 6"/>
                <p:cNvSpPr/>
                <p:nvPr/>
              </p:nvSpPr>
              <p:spPr>
                <a:xfrm>
                  <a:off x="585216" y="1351280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IAN</a:t>
                  </a:r>
                  <a:endParaRPr lang="en-US" sz="1500" dirty="0"/>
                </a:p>
              </p:txBody>
            </p:sp>
          </p:grpSp>
          <p:sp>
            <p:nvSpPr>
              <p:cNvPr id="10" name="Text 7"/>
              <p:cNvSpPr/>
              <p:nvPr/>
            </p:nvSpPr>
            <p:spPr>
              <a:xfrm>
                <a:off x="319532" y="2262632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Índice</a:t>
                </a:r>
                <a:r>
                  <a:rPr lang="en-US" sz="1250" b="1" dirty="0">
                    <a:solidFill>
                      <a:srgbClr val="FFFFFF"/>
                    </a:solidFill>
                  </a:rPr>
                  <a:t> de </a:t>
                </a:r>
                <a:r>
                  <a:rPr lang="en-US" sz="1250" b="1" dirty="0" err="1">
                    <a:solidFill>
                      <a:srgbClr val="FFFFFF"/>
                    </a:solidFill>
                  </a:rPr>
                  <a:t>Adequação</a:t>
                </a:r>
                <a:r>
                  <a:rPr lang="en-US" sz="1250" b="1" dirty="0">
                    <a:solidFill>
                      <a:srgbClr val="FFFFFF"/>
                    </a:solidFill>
                  </a:rPr>
                  <a:t> de </a:t>
                </a:r>
                <a:r>
                  <a:rPr lang="en-US" sz="1250" b="1" dirty="0" err="1">
                    <a:solidFill>
                      <a:srgbClr val="FFFFFF"/>
                    </a:solidFill>
                  </a:rPr>
                  <a:t>Nível</a:t>
                </a:r>
                <a:endParaRPr lang="en-US" sz="1250" dirty="0"/>
              </a:p>
            </p:txBody>
          </p:sp>
        </p:grp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7C36C5CD-9440-D6F1-6BF0-DC4220AC239F}"/>
                </a:ext>
              </a:extLst>
            </p:cNvPr>
            <p:cNvGrpSpPr/>
            <p:nvPr/>
          </p:nvGrpSpPr>
          <p:grpSpPr>
            <a:xfrm>
              <a:off x="25398" y="1128659"/>
              <a:ext cx="11725050" cy="5230993"/>
              <a:chOff x="187551" y="895487"/>
              <a:chExt cx="11725050" cy="5230993"/>
            </a:xfrm>
          </p:grpSpPr>
          <p:sp>
            <p:nvSpPr>
              <p:cNvPr id="11" name="Text 8"/>
              <p:cNvSpPr/>
              <p:nvPr/>
            </p:nvSpPr>
            <p:spPr>
              <a:xfrm>
                <a:off x="187551" y="2752344"/>
                <a:ext cx="2263749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 err="1">
                    <a:solidFill>
                      <a:srgbClr val="B9C7D6"/>
                    </a:solidFill>
                  </a:rPr>
                  <a:t>Proporcionalidade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geral</a:t>
                </a:r>
                <a:r>
                  <a:rPr lang="en-US" sz="1050" dirty="0">
                    <a:solidFill>
                      <a:srgbClr val="B9C7D6"/>
                    </a:solidFill>
                  </a:rPr>
                  <a:t> 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por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gênero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com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relação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a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defasagem</a:t>
                </a:r>
                <a:r>
                  <a:rPr lang="en-US" sz="1050" dirty="0">
                    <a:solidFill>
                      <a:srgbClr val="B9C7D6"/>
                    </a:solidFill>
                  </a:rPr>
                  <a:t>.</a:t>
                </a:r>
              </a:p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Com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destaque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na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evolução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dos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anos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.</a:t>
                </a:r>
                <a:endParaRPr lang="en-US" sz="1050" dirty="0"/>
              </a:p>
            </p:txBody>
          </p:sp>
          <p:pic>
            <p:nvPicPr>
              <p:cNvPr id="29" name="Imagem 28">
                <a:extLst>
                  <a:ext uri="{FF2B5EF4-FFF2-40B4-BE49-F238E27FC236}">
                    <a16:creationId xmlns:a16="http://schemas.microsoft.com/office/drawing/2014/main" id="{2AB72F28-03BC-E3BC-B26D-668D2CD64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57" r="2" b="10369"/>
              <a:stretch>
                <a:fillRect/>
              </a:stretch>
            </p:blipFill>
            <p:spPr>
              <a:xfrm>
                <a:off x="4949583" y="895487"/>
                <a:ext cx="3887955" cy="2496937"/>
              </a:xfrm>
              <a:prstGeom prst="roundRect">
                <a:avLst>
                  <a:gd name="adj" fmla="val 21923"/>
                </a:avLst>
              </a:prstGeom>
            </p:spPr>
          </p:pic>
          <p:pic>
            <p:nvPicPr>
              <p:cNvPr id="30" name="Imagem 29">
                <a:extLst>
                  <a:ext uri="{FF2B5EF4-FFF2-40B4-BE49-F238E27FC236}">
                    <a16:creationId xmlns:a16="http://schemas.microsoft.com/office/drawing/2014/main" id="{B714BC62-A1B5-B6A7-523D-0F0AC9C09E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2688" y="3787115"/>
                <a:ext cx="4690873" cy="2323831"/>
              </a:xfrm>
              <a:prstGeom prst="roundRect">
                <a:avLst>
                  <a:gd name="adj" fmla="val 23037"/>
                </a:avLst>
              </a:prstGeom>
            </p:spPr>
          </p:pic>
          <p:pic>
            <p:nvPicPr>
              <p:cNvPr id="31" name="Imagem 30">
                <a:extLst>
                  <a:ext uri="{FF2B5EF4-FFF2-40B4-BE49-F238E27FC236}">
                    <a16:creationId xmlns:a16="http://schemas.microsoft.com/office/drawing/2014/main" id="{8F07B6F0-99E4-3C55-B42C-8EE61FECF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21729" y="3802650"/>
                <a:ext cx="4690872" cy="2323830"/>
              </a:xfrm>
              <a:prstGeom prst="roundRect">
                <a:avLst>
                  <a:gd name="adj" fmla="val 27081"/>
                </a:avLst>
              </a:prstGeom>
            </p:spPr>
          </p:pic>
        </p:grp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7193BC32-DE36-2F46-D2B3-C08B77632D4F}"/>
              </a:ext>
            </a:extLst>
          </p:cNvPr>
          <p:cNvGrpSpPr/>
          <p:nvPr/>
        </p:nvGrpSpPr>
        <p:grpSpPr>
          <a:xfrm>
            <a:off x="122570" y="81390"/>
            <a:ext cx="9435103" cy="6520578"/>
            <a:chOff x="464154" y="222948"/>
            <a:chExt cx="9435103" cy="6520578"/>
          </a:xfrm>
        </p:grpSpPr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C7C659F6-D092-DDAC-21E9-14693933A40D}"/>
                </a:ext>
              </a:extLst>
            </p:cNvPr>
            <p:cNvGrpSpPr/>
            <p:nvPr/>
          </p:nvGrpSpPr>
          <p:grpSpPr>
            <a:xfrm>
              <a:off x="672276" y="1051560"/>
              <a:ext cx="1508760" cy="1435544"/>
              <a:chOff x="337981" y="833041"/>
              <a:chExt cx="1508760" cy="1435544"/>
            </a:xfrm>
          </p:grpSpPr>
          <p:grpSp>
            <p:nvGrpSpPr>
              <p:cNvPr id="43" name="Agrupar 42">
                <a:extLst>
                  <a:ext uri="{FF2B5EF4-FFF2-40B4-BE49-F238E27FC236}">
                    <a16:creationId xmlns:a16="http://schemas.microsoft.com/office/drawing/2014/main" id="{180AD922-9A7A-A3C6-F93F-02076FBC1602}"/>
                  </a:ext>
                </a:extLst>
              </p:cNvPr>
              <p:cNvGrpSpPr/>
              <p:nvPr/>
            </p:nvGrpSpPr>
            <p:grpSpPr>
              <a:xfrm>
                <a:off x="584869" y="833041"/>
                <a:ext cx="960120" cy="960120"/>
                <a:chOff x="584869" y="833041"/>
                <a:chExt cx="960120" cy="960120"/>
              </a:xfrm>
            </p:grpSpPr>
            <p:sp>
              <p:nvSpPr>
                <p:cNvPr id="36" name="Shape 9"/>
                <p:cNvSpPr/>
                <p:nvPr/>
              </p:nvSpPr>
              <p:spPr>
                <a:xfrm>
                  <a:off x="584869" y="833041"/>
                  <a:ext cx="960120" cy="960120"/>
                </a:xfrm>
                <a:prstGeom prst="ellipse">
                  <a:avLst/>
                </a:prstGeom>
                <a:solidFill>
                  <a:srgbClr val="65E4A3">
                    <a:alpha val="95000"/>
                  </a:srgbClr>
                </a:solidFill>
                <a:ln w="12700">
                  <a:solidFill>
                    <a:srgbClr val="65E4A3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37" name="Text 10"/>
                <p:cNvSpPr/>
                <p:nvPr/>
              </p:nvSpPr>
              <p:spPr>
                <a:xfrm>
                  <a:off x="630589" y="1134793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IDA</a:t>
                  </a:r>
                  <a:endParaRPr lang="en-US" sz="1500" dirty="0"/>
                </a:p>
              </p:txBody>
            </p:sp>
          </p:grpSp>
          <p:sp>
            <p:nvSpPr>
              <p:cNvPr id="39" name="Text 11"/>
              <p:cNvSpPr/>
              <p:nvPr/>
            </p:nvSpPr>
            <p:spPr>
              <a:xfrm>
                <a:off x="337981" y="1811385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Desempenho</a:t>
                </a:r>
                <a:r>
                  <a:rPr lang="en-US" sz="1250" b="1" dirty="0">
                    <a:solidFill>
                      <a:srgbClr val="FFFFFF"/>
                    </a:solidFill>
                  </a:rPr>
                  <a:t> Escolar</a:t>
                </a:r>
                <a:endParaRPr lang="en-US" sz="1250" dirty="0"/>
              </a:p>
            </p:txBody>
          </p:sp>
        </p:grp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65B15465-4B11-C2C3-4026-064C3301C0C7}"/>
                </a:ext>
              </a:extLst>
            </p:cNvPr>
            <p:cNvGrpSpPr/>
            <p:nvPr/>
          </p:nvGrpSpPr>
          <p:grpSpPr>
            <a:xfrm>
              <a:off x="464154" y="222948"/>
              <a:ext cx="9435103" cy="6520578"/>
              <a:chOff x="234349" y="163051"/>
              <a:chExt cx="9435103" cy="6520578"/>
            </a:xfrm>
          </p:grpSpPr>
          <p:sp>
            <p:nvSpPr>
              <p:cNvPr id="38" name="Text 12"/>
              <p:cNvSpPr/>
              <p:nvPr/>
            </p:nvSpPr>
            <p:spPr>
              <a:xfrm>
                <a:off x="234349" y="2268585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 err="1">
                    <a:solidFill>
                      <a:srgbClr val="B9C7D6"/>
                    </a:solidFill>
                  </a:rPr>
                  <a:t>Evolução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positive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até</a:t>
                </a:r>
                <a:r>
                  <a:rPr lang="en-US" sz="1050" dirty="0">
                    <a:solidFill>
                      <a:srgbClr val="B9C7D6"/>
                    </a:solidFill>
                  </a:rPr>
                  <a:t> 2023,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seguida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leve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retração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em</a:t>
                </a:r>
                <a:r>
                  <a:rPr lang="en-US" sz="1050" dirty="0">
                    <a:solidFill>
                      <a:srgbClr val="B9C7D6"/>
                    </a:solidFill>
                  </a:rPr>
                  <a:t> 2024.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Influenciada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na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Fase 7.</a:t>
                </a:r>
                <a:endParaRPr lang="en-US" sz="1050" dirty="0"/>
              </a:p>
            </p:txBody>
          </p:sp>
          <p:pic>
            <p:nvPicPr>
              <p:cNvPr id="41" name="Imagem 40">
                <a:extLst>
                  <a:ext uri="{FF2B5EF4-FFF2-40B4-BE49-F238E27FC236}">
                    <a16:creationId xmlns:a16="http://schemas.microsoft.com/office/drawing/2014/main" id="{486A636D-5ED9-C605-E658-04832A397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14942" y="163051"/>
                <a:ext cx="5117290" cy="3152616"/>
              </a:xfrm>
              <a:prstGeom prst="roundRect">
                <a:avLst>
                  <a:gd name="adj" fmla="val 17318"/>
                </a:avLst>
              </a:prstGeom>
            </p:spPr>
          </p:pic>
          <p:pic>
            <p:nvPicPr>
              <p:cNvPr id="42" name="Imagem 41">
                <a:extLst>
                  <a:ext uri="{FF2B5EF4-FFF2-40B4-BE49-F238E27FC236}">
                    <a16:creationId xmlns:a16="http://schemas.microsoft.com/office/drawing/2014/main" id="{A62B372F-72C8-8F82-75A8-582E122F2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67051" y="3531013"/>
                <a:ext cx="6402401" cy="3152616"/>
              </a:xfrm>
              <a:prstGeom prst="roundRect">
                <a:avLst>
                  <a:gd name="adj" fmla="val 19971"/>
                </a:avLst>
              </a:prstGeom>
            </p:spPr>
          </p:pic>
        </p:grp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662E860B-E4E2-4318-FB44-A636127148CE}"/>
              </a:ext>
            </a:extLst>
          </p:cNvPr>
          <p:cNvGrpSpPr/>
          <p:nvPr/>
        </p:nvGrpSpPr>
        <p:grpSpPr>
          <a:xfrm>
            <a:off x="204190" y="109898"/>
            <a:ext cx="11410230" cy="6223798"/>
            <a:chOff x="214749" y="322761"/>
            <a:chExt cx="11410230" cy="6223798"/>
          </a:xfrm>
        </p:grpSpPr>
        <p:grpSp>
          <p:nvGrpSpPr>
            <p:cNvPr id="53" name="Agrupar 52">
              <a:extLst>
                <a:ext uri="{FF2B5EF4-FFF2-40B4-BE49-F238E27FC236}">
                  <a16:creationId xmlns:a16="http://schemas.microsoft.com/office/drawing/2014/main" id="{E090115D-0B3E-250E-839C-C1BB15051111}"/>
                </a:ext>
              </a:extLst>
            </p:cNvPr>
            <p:cNvGrpSpPr/>
            <p:nvPr/>
          </p:nvGrpSpPr>
          <p:grpSpPr>
            <a:xfrm>
              <a:off x="214749" y="1153081"/>
              <a:ext cx="1874520" cy="2661491"/>
              <a:chOff x="134112" y="558134"/>
              <a:chExt cx="1874520" cy="2661491"/>
            </a:xfrm>
          </p:grpSpPr>
          <p:sp>
            <p:nvSpPr>
              <p:cNvPr id="54" name="Shape 13"/>
              <p:cNvSpPr/>
              <p:nvPr/>
            </p:nvSpPr>
            <p:spPr>
              <a:xfrm>
                <a:off x="518160" y="558134"/>
                <a:ext cx="960120" cy="960120"/>
              </a:xfrm>
              <a:prstGeom prst="ellipse">
                <a:avLst/>
              </a:prstGeom>
              <a:solidFill>
                <a:srgbClr val="FFD166">
                  <a:alpha val="95000"/>
                </a:srgbClr>
              </a:solidFill>
              <a:ln w="12700">
                <a:solidFill>
                  <a:srgbClr val="FFD166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55" name="Text 14"/>
              <p:cNvSpPr/>
              <p:nvPr/>
            </p:nvSpPr>
            <p:spPr>
              <a:xfrm>
                <a:off x="563880" y="878761"/>
                <a:ext cx="8686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1428"/>
                    </a:solidFill>
                  </a:rPr>
                  <a:t>IEG</a:t>
                </a:r>
                <a:endParaRPr lang="en-US" sz="1500" dirty="0"/>
              </a:p>
            </p:txBody>
          </p:sp>
          <p:sp>
            <p:nvSpPr>
              <p:cNvPr id="56" name="Text 15"/>
              <p:cNvSpPr/>
              <p:nvPr/>
            </p:nvSpPr>
            <p:spPr>
              <a:xfrm>
                <a:off x="289560" y="1802305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Engajamento</a:t>
                </a:r>
                <a:endParaRPr lang="en-US" sz="1250" dirty="0"/>
              </a:p>
            </p:txBody>
          </p:sp>
          <p:sp>
            <p:nvSpPr>
              <p:cNvPr id="57" name="Text 16"/>
              <p:cNvSpPr/>
              <p:nvPr/>
            </p:nvSpPr>
            <p:spPr>
              <a:xfrm>
                <a:off x="134112" y="2378377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 err="1">
                    <a:solidFill>
                      <a:srgbClr val="B9C7D6"/>
                    </a:solidFill>
                  </a:rPr>
                  <a:t>Relação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Positiva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entre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engajamento</a:t>
                </a:r>
                <a:r>
                  <a:rPr lang="en-US" sz="1050" dirty="0">
                    <a:solidFill>
                      <a:srgbClr val="B9C7D6"/>
                    </a:solidFill>
                  </a:rPr>
                  <a:t>,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desempenho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ponto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virada</a:t>
                </a:r>
                <a:r>
                  <a:rPr lang="en-US" sz="1050" dirty="0">
                    <a:solidFill>
                      <a:srgbClr val="B9C7D6"/>
                    </a:solidFill>
                  </a:rPr>
                  <a:t>, mas de forma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moderada</a:t>
                </a:r>
                <a:r>
                  <a:rPr lang="en-US" sz="1050" dirty="0">
                    <a:solidFill>
                      <a:srgbClr val="B9C7D6"/>
                    </a:solidFill>
                  </a:rPr>
                  <a:t>.</a:t>
                </a:r>
                <a:endParaRPr lang="en-US" sz="1050" dirty="0"/>
              </a:p>
            </p:txBody>
          </p:sp>
        </p:grpSp>
        <p:pic>
          <p:nvPicPr>
            <p:cNvPr id="58" name="Imagem 57">
              <a:extLst>
                <a:ext uri="{FF2B5EF4-FFF2-40B4-BE49-F238E27FC236}">
                  <a16:creationId xmlns:a16="http://schemas.microsoft.com/office/drawing/2014/main" id="{1DA9C8D1-3430-4985-CCE6-4615BB230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846" y="364429"/>
              <a:ext cx="3782224" cy="2882793"/>
            </a:xfrm>
            <a:prstGeom prst="roundRect">
              <a:avLst>
                <a:gd name="adj" fmla="val 15462"/>
              </a:avLst>
            </a:prstGeom>
          </p:spPr>
        </p:pic>
        <p:pic>
          <p:nvPicPr>
            <p:cNvPr id="59" name="Imagem 58">
              <a:extLst>
                <a:ext uri="{FF2B5EF4-FFF2-40B4-BE49-F238E27FC236}">
                  <a16:creationId xmlns:a16="http://schemas.microsoft.com/office/drawing/2014/main" id="{2EADC9DA-78AB-5DCA-9177-8133AC1D5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9636" y="322761"/>
              <a:ext cx="4205343" cy="2882793"/>
            </a:xfrm>
            <a:prstGeom prst="roundRect">
              <a:avLst>
                <a:gd name="adj" fmla="val 19076"/>
              </a:avLst>
            </a:prstGeom>
          </p:spPr>
        </p:pic>
        <p:pic>
          <p:nvPicPr>
            <p:cNvPr id="60" name="Imagem 59">
              <a:extLst>
                <a:ext uri="{FF2B5EF4-FFF2-40B4-BE49-F238E27FC236}">
                  <a16:creationId xmlns:a16="http://schemas.microsoft.com/office/drawing/2014/main" id="{96A618FF-794B-770A-7984-6D297C55A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7550" y="3663766"/>
              <a:ext cx="4205343" cy="2882793"/>
            </a:xfrm>
            <a:prstGeom prst="roundRect">
              <a:avLst>
                <a:gd name="adj" fmla="val 20281"/>
              </a:avLst>
            </a:prstGeom>
          </p:spPr>
        </p:pic>
      </p:grpSp>
      <p:pic>
        <p:nvPicPr>
          <p:cNvPr id="66" name="Imagem 65">
            <a:extLst>
              <a:ext uri="{FF2B5EF4-FFF2-40B4-BE49-F238E27FC236}">
                <a16:creationId xmlns:a16="http://schemas.microsoft.com/office/drawing/2014/main" id="{96C91794-1E53-38D3-5C9F-F4B192967B2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9171" t="12555" r="32362" b="26449"/>
          <a:stretch>
            <a:fillRect/>
          </a:stretch>
        </p:blipFill>
        <p:spPr>
          <a:xfrm>
            <a:off x="101085" y="6289417"/>
            <a:ext cx="501570" cy="415824"/>
          </a:xfrm>
          <a:prstGeom prst="rect">
            <a:avLst/>
          </a:prstGeom>
        </p:spPr>
      </p:pic>
      <p:grpSp>
        <p:nvGrpSpPr>
          <p:cNvPr id="67" name="Agrupar 66">
            <a:extLst>
              <a:ext uri="{FF2B5EF4-FFF2-40B4-BE49-F238E27FC236}">
                <a16:creationId xmlns:a16="http://schemas.microsoft.com/office/drawing/2014/main" id="{F94923F1-69D5-9D7D-B357-366B4F2C57CF}"/>
              </a:ext>
            </a:extLst>
          </p:cNvPr>
          <p:cNvGrpSpPr>
            <a:grpSpLocks noChangeAspect="1"/>
          </p:cNvGrpSpPr>
          <p:nvPr/>
        </p:nvGrpSpPr>
        <p:grpSpPr>
          <a:xfrm>
            <a:off x="11401548" y="6375085"/>
            <a:ext cx="689367" cy="342074"/>
            <a:chOff x="307910" y="1699121"/>
            <a:chExt cx="1893050" cy="1044157"/>
          </a:xfrm>
        </p:grpSpPr>
        <p:pic>
          <p:nvPicPr>
            <p:cNvPr id="68" name="Imagem 67">
              <a:extLst>
                <a:ext uri="{FF2B5EF4-FFF2-40B4-BE49-F238E27FC236}">
                  <a16:creationId xmlns:a16="http://schemas.microsoft.com/office/drawing/2014/main" id="{E5686A53-BAC2-A56A-EFEC-FD52C94ED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69" name="Imagem 68">
              <a:extLst>
                <a:ext uri="{FF2B5EF4-FFF2-40B4-BE49-F238E27FC236}">
                  <a16:creationId xmlns:a16="http://schemas.microsoft.com/office/drawing/2014/main" id="{A3962C12-C5C8-9D23-B31B-B7D58437C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230EF-F817-C431-9AD0-97B9DB7E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06CBF7-81F5-B3B8-369F-21DE1AD54D7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7">
              <a:alpha val="62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B8E744-47A6-EF0F-8533-46377C9B0004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373352-6E33-B894-73B8-A0763537AB6B}"/>
              </a:ext>
            </a:extLst>
          </p:cNvPr>
          <p:cNvSpPr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4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A463420-BFD9-F5B6-06DC-306C7B2064FA}"/>
              </a:ext>
            </a:extLst>
          </p:cNvPr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7D6"/>
                </a:solidFill>
              </a:rPr>
              <a:t>03</a:t>
            </a:r>
            <a:endParaRPr lang="en-US" sz="800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42B762E-3408-F3A5-6E55-1BFC25D15E22}"/>
              </a:ext>
            </a:extLst>
          </p:cNvPr>
          <p:cNvGrpSpPr/>
          <p:nvPr/>
        </p:nvGrpSpPr>
        <p:grpSpPr>
          <a:xfrm>
            <a:off x="55770" y="1643219"/>
            <a:ext cx="11899542" cy="3608830"/>
            <a:chOff x="102089" y="1621845"/>
            <a:chExt cx="11899542" cy="3608830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BF217A57-1EA7-22F7-78FF-AC17F200A5D6}"/>
                </a:ext>
              </a:extLst>
            </p:cNvPr>
            <p:cNvGrpSpPr/>
            <p:nvPr/>
          </p:nvGrpSpPr>
          <p:grpSpPr>
            <a:xfrm>
              <a:off x="102089" y="1621845"/>
              <a:ext cx="1874520" cy="2642616"/>
              <a:chOff x="8759952" y="2084832"/>
              <a:chExt cx="1874520" cy="2642616"/>
            </a:xfrm>
          </p:grpSpPr>
          <p:sp>
            <p:nvSpPr>
              <p:cNvPr id="20" name="Shape 17"/>
              <p:cNvSpPr/>
              <p:nvPr/>
            </p:nvSpPr>
            <p:spPr>
              <a:xfrm>
                <a:off x="9144000" y="2084832"/>
                <a:ext cx="960120" cy="960120"/>
              </a:xfrm>
              <a:prstGeom prst="ellipse">
                <a:avLst/>
              </a:prstGeom>
              <a:solidFill>
                <a:srgbClr val="E91E63">
                  <a:alpha val="95000"/>
                </a:srgbClr>
              </a:solidFill>
              <a:ln w="12700">
                <a:solidFill>
                  <a:srgbClr val="E91E63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1" name="Text 18"/>
              <p:cNvSpPr/>
              <p:nvPr/>
            </p:nvSpPr>
            <p:spPr>
              <a:xfrm>
                <a:off x="9189720" y="2386584"/>
                <a:ext cx="8686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1428"/>
                    </a:solidFill>
                  </a:rPr>
                  <a:t>IAA</a:t>
                </a:r>
                <a:endParaRPr lang="en-US" sz="1500" dirty="0"/>
              </a:p>
            </p:txBody>
          </p:sp>
          <p:sp>
            <p:nvSpPr>
              <p:cNvPr id="22" name="Text 19"/>
              <p:cNvSpPr/>
              <p:nvPr/>
            </p:nvSpPr>
            <p:spPr>
              <a:xfrm>
                <a:off x="8915400" y="3310128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Autoavaliação</a:t>
                </a:r>
                <a:endParaRPr lang="en-US" sz="1250" dirty="0"/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8759952" y="3886200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Baixa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relação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 entre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indicadores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, com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leve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aumento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mas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sem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destaques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.</a:t>
                </a:r>
                <a:endParaRPr lang="en-US" sz="1050" dirty="0"/>
              </a:p>
            </p:txBody>
          </p:sp>
        </p:grp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FA4CA35B-A183-B4B4-7567-1FC5A6A2A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2434" y="2011680"/>
              <a:ext cx="4352080" cy="3218995"/>
            </a:xfrm>
            <a:prstGeom prst="roundRect">
              <a:avLst>
                <a:gd name="adj" fmla="val 9207"/>
              </a:avLst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9DB68D06-08C8-3440-823B-FD450097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7728" y="2011680"/>
              <a:ext cx="5033903" cy="3100308"/>
            </a:xfrm>
            <a:prstGeom prst="roundRect">
              <a:avLst>
                <a:gd name="adj" fmla="val 22324"/>
              </a:avLst>
            </a:prstGeom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FC4A2A3B-B988-0673-AC88-24E76CF4DACA}"/>
              </a:ext>
            </a:extLst>
          </p:cNvPr>
          <p:cNvGrpSpPr/>
          <p:nvPr/>
        </p:nvGrpSpPr>
        <p:grpSpPr>
          <a:xfrm>
            <a:off x="95993" y="1594487"/>
            <a:ext cx="8995330" cy="3587990"/>
            <a:chOff x="0" y="2078327"/>
            <a:chExt cx="8995330" cy="3587990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9542BABE-2A53-403C-6D7D-1420F7834CD5}"/>
                </a:ext>
              </a:extLst>
            </p:cNvPr>
            <p:cNvGrpSpPr/>
            <p:nvPr/>
          </p:nvGrpSpPr>
          <p:grpSpPr>
            <a:xfrm>
              <a:off x="0" y="2113746"/>
              <a:ext cx="1874520" cy="2642616"/>
              <a:chOff x="393192" y="2084832"/>
              <a:chExt cx="1874520" cy="2642616"/>
            </a:xfrm>
          </p:grpSpPr>
          <p:sp>
            <p:nvSpPr>
              <p:cNvPr id="15" name="Shape 5">
                <a:extLst>
                  <a:ext uri="{FF2B5EF4-FFF2-40B4-BE49-F238E27FC236}">
                    <a16:creationId xmlns:a16="http://schemas.microsoft.com/office/drawing/2014/main" id="{284DF389-FF66-3BBA-F303-50F0B529255D}"/>
                  </a:ext>
                </a:extLst>
              </p:cNvPr>
              <p:cNvSpPr/>
              <p:nvPr/>
            </p:nvSpPr>
            <p:spPr>
              <a:xfrm>
                <a:off x="777240" y="2084832"/>
                <a:ext cx="960120" cy="960120"/>
              </a:xfrm>
              <a:prstGeom prst="ellipse">
                <a:avLst/>
              </a:prstGeom>
              <a:solidFill>
                <a:schemeClr val="bg2">
                  <a:lumMod val="50000"/>
                  <a:alpha val="95000"/>
                </a:schemeClr>
              </a:solidFill>
              <a:ln w="12700">
                <a:solidFill>
                  <a:srgbClr val="2EA7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FC8DF53B-D2F9-0728-006B-C66A637A4AF4}"/>
                  </a:ext>
                </a:extLst>
              </p:cNvPr>
              <p:cNvSpPr/>
              <p:nvPr/>
            </p:nvSpPr>
            <p:spPr>
              <a:xfrm>
                <a:off x="822960" y="2386584"/>
                <a:ext cx="8686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1428"/>
                    </a:solidFill>
                  </a:rPr>
                  <a:t>IPS</a:t>
                </a:r>
                <a:endParaRPr lang="en-US" sz="1500" dirty="0"/>
              </a:p>
            </p:txBody>
          </p:sp>
          <p:sp>
            <p:nvSpPr>
              <p:cNvPr id="17" name="Text 7">
                <a:extLst>
                  <a:ext uri="{FF2B5EF4-FFF2-40B4-BE49-F238E27FC236}">
                    <a16:creationId xmlns:a16="http://schemas.microsoft.com/office/drawing/2014/main" id="{4DD255BF-8F7F-6876-AF1F-E2CBC2F625F8}"/>
                  </a:ext>
                </a:extLst>
              </p:cNvPr>
              <p:cNvSpPr/>
              <p:nvPr/>
            </p:nvSpPr>
            <p:spPr>
              <a:xfrm>
                <a:off x="548640" y="3310128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FFFFFF"/>
                    </a:solidFill>
                  </a:rPr>
                  <a:t>Desempenho acadêmico</a:t>
                </a:r>
                <a:endParaRPr lang="en-US" sz="1250" dirty="0"/>
              </a:p>
            </p:txBody>
          </p:sp>
          <p:sp>
            <p:nvSpPr>
              <p:cNvPr id="18" name="Text 8">
                <a:extLst>
                  <a:ext uri="{FF2B5EF4-FFF2-40B4-BE49-F238E27FC236}">
                    <a16:creationId xmlns:a16="http://schemas.microsoft.com/office/drawing/2014/main" id="{3DF115C5-5CAD-3400-8EE0-2805C7AABB13}"/>
                  </a:ext>
                </a:extLst>
              </p:cNvPr>
              <p:cNvSpPr/>
              <p:nvPr/>
            </p:nvSpPr>
            <p:spPr>
              <a:xfrm>
                <a:off x="393192" y="3886200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AS" sz="1050" dirty="0">
                    <a:solidFill>
                      <a:srgbClr val="B9C7D6"/>
                    </a:solidFill>
                  </a:rPr>
                  <a:t>Sem </a:t>
                </a:r>
                <a:r>
                  <a:rPr lang="en-AS" sz="1050" dirty="0" err="1">
                    <a:solidFill>
                      <a:srgbClr val="B9C7D6"/>
                    </a:solidFill>
                  </a:rPr>
                  <a:t>destaques</a:t>
                </a:r>
                <a:endParaRPr lang="en-US" sz="1050" dirty="0"/>
              </a:p>
            </p:txBody>
          </p:sp>
        </p:grpSp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BC526958-8468-85CA-0A6A-8AB21DBDF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1265" y="2078327"/>
              <a:ext cx="5234065" cy="3587990"/>
            </a:xfrm>
            <a:prstGeom prst="roundRect">
              <a:avLst/>
            </a:prstGeom>
          </p:spPr>
        </p:pic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28799A0B-E21F-5BE1-2ED3-A0CDAE2A707C}"/>
              </a:ext>
            </a:extLst>
          </p:cNvPr>
          <p:cNvGrpSpPr/>
          <p:nvPr/>
        </p:nvGrpSpPr>
        <p:grpSpPr>
          <a:xfrm>
            <a:off x="101085" y="1234585"/>
            <a:ext cx="9960616" cy="4815932"/>
            <a:chOff x="45968" y="1481638"/>
            <a:chExt cx="9960616" cy="4815932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C2167BCB-8925-C168-EBB4-26C62091A41A}"/>
                </a:ext>
              </a:extLst>
            </p:cNvPr>
            <p:cNvGrpSpPr/>
            <p:nvPr/>
          </p:nvGrpSpPr>
          <p:grpSpPr>
            <a:xfrm>
              <a:off x="45968" y="1793937"/>
              <a:ext cx="1874520" cy="2642616"/>
              <a:chOff x="3182112" y="2084832"/>
              <a:chExt cx="1874520" cy="2642616"/>
            </a:xfrm>
          </p:grpSpPr>
          <p:sp>
            <p:nvSpPr>
              <p:cNvPr id="32" name="Shape 9">
                <a:extLst>
                  <a:ext uri="{FF2B5EF4-FFF2-40B4-BE49-F238E27FC236}">
                    <a16:creationId xmlns:a16="http://schemas.microsoft.com/office/drawing/2014/main" id="{16A33F45-7AB1-368A-3164-4774B4A78992}"/>
                  </a:ext>
                </a:extLst>
              </p:cNvPr>
              <p:cNvSpPr/>
              <p:nvPr/>
            </p:nvSpPr>
            <p:spPr>
              <a:xfrm>
                <a:off x="3566160" y="2084832"/>
                <a:ext cx="960120" cy="960120"/>
              </a:xfrm>
              <a:prstGeom prst="ellipse">
                <a:avLst/>
              </a:prstGeom>
              <a:solidFill>
                <a:srgbClr val="7030A0">
                  <a:alpha val="95000"/>
                </a:srgbClr>
              </a:solidFill>
              <a:ln w="12700">
                <a:solidFill>
                  <a:srgbClr val="65E4A3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Text 10">
                <a:extLst>
                  <a:ext uri="{FF2B5EF4-FFF2-40B4-BE49-F238E27FC236}">
                    <a16:creationId xmlns:a16="http://schemas.microsoft.com/office/drawing/2014/main" id="{7E59779E-B72F-C962-F1D3-DDE0CCB65BFB}"/>
                  </a:ext>
                </a:extLst>
              </p:cNvPr>
              <p:cNvSpPr/>
              <p:nvPr/>
            </p:nvSpPr>
            <p:spPr>
              <a:xfrm>
                <a:off x="3611880" y="2386584"/>
                <a:ext cx="8686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1428"/>
                    </a:solidFill>
                  </a:rPr>
                  <a:t>IPP</a:t>
                </a:r>
                <a:endParaRPr lang="en-US" sz="1500" dirty="0"/>
              </a:p>
            </p:txBody>
          </p:sp>
          <p:sp>
            <p:nvSpPr>
              <p:cNvPr id="34" name="Text 11">
                <a:extLst>
                  <a:ext uri="{FF2B5EF4-FFF2-40B4-BE49-F238E27FC236}">
                    <a16:creationId xmlns:a16="http://schemas.microsoft.com/office/drawing/2014/main" id="{B7CF06AE-6237-7B9A-0957-496584225522}"/>
                  </a:ext>
                </a:extLst>
              </p:cNvPr>
              <p:cNvSpPr/>
              <p:nvPr/>
            </p:nvSpPr>
            <p:spPr>
              <a:xfrm>
                <a:off x="3337560" y="3310128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Índice</a:t>
                </a:r>
                <a:r>
                  <a:rPr lang="en-US" sz="1250" b="1" dirty="0">
                    <a:solidFill>
                      <a:srgbClr val="FFFFFF"/>
                    </a:solidFill>
                  </a:rPr>
                  <a:t> </a:t>
                </a:r>
                <a:r>
                  <a:rPr lang="en-US" sz="1250" b="1" dirty="0" err="1">
                    <a:solidFill>
                      <a:srgbClr val="FFFFFF"/>
                    </a:solidFill>
                  </a:rPr>
                  <a:t>Psicopedagógico</a:t>
                </a:r>
                <a:endParaRPr lang="en-US" sz="1250" dirty="0"/>
              </a:p>
            </p:txBody>
          </p:sp>
          <p:sp>
            <p:nvSpPr>
              <p:cNvPr id="35" name="Text 12">
                <a:extLst>
                  <a:ext uri="{FF2B5EF4-FFF2-40B4-BE49-F238E27FC236}">
                    <a16:creationId xmlns:a16="http://schemas.microsoft.com/office/drawing/2014/main" id="{BF07F82C-4EEC-6FC3-1FA7-BFF0513D2A24}"/>
                  </a:ext>
                </a:extLst>
              </p:cNvPr>
              <p:cNvSpPr/>
              <p:nvPr/>
            </p:nvSpPr>
            <p:spPr>
              <a:xfrm>
                <a:off x="3182112" y="3886200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algn="ctr"/>
                <a:r>
                  <a:rPr lang="pt-PT" sz="1050" dirty="0">
                    <a:solidFill>
                      <a:schemeClr val="bg1"/>
                    </a:solidFill>
                  </a:rPr>
                  <a:t>relação positiva fraca/moderada.</a:t>
                </a:r>
                <a:endParaRPr lang="en-US" sz="1050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6" name="Imagem 35">
              <a:extLst>
                <a:ext uri="{FF2B5EF4-FFF2-40B4-BE49-F238E27FC236}">
                  <a16:creationId xmlns:a16="http://schemas.microsoft.com/office/drawing/2014/main" id="{B6081EFA-0055-D784-474E-B633AC04A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920" y="1481638"/>
              <a:ext cx="6836664" cy="4815932"/>
            </a:xfrm>
            <a:prstGeom prst="roundRect">
              <a:avLst>
                <a:gd name="adj" fmla="val 18882"/>
              </a:avLst>
            </a:prstGeom>
          </p:spPr>
        </p:pic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778BE45A-8B4E-E295-F28B-54DEC5A3372E}"/>
              </a:ext>
            </a:extLst>
          </p:cNvPr>
          <p:cNvGrpSpPr/>
          <p:nvPr/>
        </p:nvGrpSpPr>
        <p:grpSpPr>
          <a:xfrm>
            <a:off x="-41727" y="1546114"/>
            <a:ext cx="11682631" cy="3684671"/>
            <a:chOff x="45968" y="1483041"/>
            <a:chExt cx="11682631" cy="3684671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DF5BAE2E-590E-2538-0C49-3DB641F2483A}"/>
                </a:ext>
              </a:extLst>
            </p:cNvPr>
            <p:cNvGrpSpPr/>
            <p:nvPr/>
          </p:nvGrpSpPr>
          <p:grpSpPr>
            <a:xfrm>
              <a:off x="45968" y="1483041"/>
              <a:ext cx="1874520" cy="2642616"/>
              <a:chOff x="5971032" y="2084832"/>
              <a:chExt cx="1874520" cy="2642616"/>
            </a:xfrm>
          </p:grpSpPr>
          <p:sp>
            <p:nvSpPr>
              <p:cNvPr id="39" name="Shape 13">
                <a:extLst>
                  <a:ext uri="{FF2B5EF4-FFF2-40B4-BE49-F238E27FC236}">
                    <a16:creationId xmlns:a16="http://schemas.microsoft.com/office/drawing/2014/main" id="{3A3E0B44-7CE2-2977-B214-F26FAB63116C}"/>
                  </a:ext>
                </a:extLst>
              </p:cNvPr>
              <p:cNvSpPr/>
              <p:nvPr/>
            </p:nvSpPr>
            <p:spPr>
              <a:xfrm>
                <a:off x="6355080" y="2084832"/>
                <a:ext cx="960120" cy="96012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95000"/>
                </a:schemeClr>
              </a:solidFill>
              <a:ln w="12700">
                <a:solidFill>
                  <a:srgbClr val="FFD166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Text 14">
                <a:extLst>
                  <a:ext uri="{FF2B5EF4-FFF2-40B4-BE49-F238E27FC236}">
                    <a16:creationId xmlns:a16="http://schemas.microsoft.com/office/drawing/2014/main" id="{6F855850-2AEB-5870-81EB-43B4054E35F5}"/>
                  </a:ext>
                </a:extLst>
              </p:cNvPr>
              <p:cNvSpPr/>
              <p:nvPr/>
            </p:nvSpPr>
            <p:spPr>
              <a:xfrm>
                <a:off x="6400800" y="2386584"/>
                <a:ext cx="8686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1428"/>
                    </a:solidFill>
                  </a:rPr>
                  <a:t>IPV</a:t>
                </a:r>
                <a:endParaRPr lang="en-US" sz="1500" dirty="0"/>
              </a:p>
            </p:txBody>
          </p:sp>
          <p:sp>
            <p:nvSpPr>
              <p:cNvPr id="41" name="Text 15">
                <a:extLst>
                  <a:ext uri="{FF2B5EF4-FFF2-40B4-BE49-F238E27FC236}">
                    <a16:creationId xmlns:a16="http://schemas.microsoft.com/office/drawing/2014/main" id="{01AB5311-08AC-8829-46D1-91819B063347}"/>
                  </a:ext>
                </a:extLst>
              </p:cNvPr>
              <p:cNvSpPr/>
              <p:nvPr/>
            </p:nvSpPr>
            <p:spPr>
              <a:xfrm>
                <a:off x="6126480" y="3310128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FFFFFF"/>
                    </a:solidFill>
                  </a:rPr>
                  <a:t>Ponto de </a:t>
                </a:r>
                <a:r>
                  <a:rPr lang="en-US" sz="1250" b="1" dirty="0" err="1">
                    <a:solidFill>
                      <a:srgbClr val="FFFFFF"/>
                    </a:solidFill>
                  </a:rPr>
                  <a:t>Virada</a:t>
                </a:r>
                <a:endParaRPr lang="en-US" sz="1250" dirty="0"/>
              </a:p>
            </p:txBody>
          </p:sp>
          <p:sp>
            <p:nvSpPr>
              <p:cNvPr id="42" name="Text 16">
                <a:extLst>
                  <a:ext uri="{FF2B5EF4-FFF2-40B4-BE49-F238E27FC236}">
                    <a16:creationId xmlns:a16="http://schemas.microsoft.com/office/drawing/2014/main" id="{2D271D42-15F8-F7A5-8337-951AA173DE45}"/>
                  </a:ext>
                </a:extLst>
              </p:cNvPr>
              <p:cNvSpPr/>
              <p:nvPr/>
            </p:nvSpPr>
            <p:spPr>
              <a:xfrm>
                <a:off x="5971032" y="3886200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AS" sz="1050" dirty="0">
                    <a:solidFill>
                      <a:srgbClr val="B9C7D6"/>
                    </a:solidFill>
                  </a:rPr>
                  <a:t>Rela</a:t>
                </a:r>
                <a:r>
                  <a:rPr lang="pt-BR" sz="1050" dirty="0" err="1">
                    <a:solidFill>
                      <a:srgbClr val="B9C7D6"/>
                    </a:solidFill>
                  </a:rPr>
                  <a:t>ção</a:t>
                </a:r>
                <a:r>
                  <a:rPr lang="pt-BR" sz="1050" dirty="0">
                    <a:solidFill>
                      <a:srgbClr val="B9C7D6"/>
                    </a:solidFill>
                  </a:rPr>
                  <a:t> moderada a moderadamente forte.</a:t>
                </a:r>
                <a:endParaRPr lang="en-US" sz="1050" dirty="0"/>
              </a:p>
            </p:txBody>
          </p:sp>
        </p:grpSp>
        <p:pic>
          <p:nvPicPr>
            <p:cNvPr id="43" name="Imagem 42">
              <a:extLst>
                <a:ext uri="{FF2B5EF4-FFF2-40B4-BE49-F238E27FC236}">
                  <a16:creationId xmlns:a16="http://schemas.microsoft.com/office/drawing/2014/main" id="{C711DDC5-C8C9-DB7F-F7D1-525B35993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5783" y="2059113"/>
              <a:ext cx="2878934" cy="3052017"/>
            </a:xfrm>
            <a:prstGeom prst="roundRect">
              <a:avLst/>
            </a:prstGeom>
          </p:spPr>
        </p:pic>
        <p:pic>
          <p:nvPicPr>
            <p:cNvPr id="44" name="Imagem 43">
              <a:extLst>
                <a:ext uri="{FF2B5EF4-FFF2-40B4-BE49-F238E27FC236}">
                  <a16:creationId xmlns:a16="http://schemas.microsoft.com/office/drawing/2014/main" id="{618D6818-B670-1CEF-7EC6-588014B06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8533" y="2079712"/>
              <a:ext cx="5640066" cy="3088000"/>
            </a:xfrm>
            <a:prstGeom prst="roundRect">
              <a:avLst/>
            </a:prstGeom>
          </p:spPr>
        </p:pic>
      </p:grpSp>
      <p:pic>
        <p:nvPicPr>
          <p:cNvPr id="50" name="Imagem 49">
            <a:extLst>
              <a:ext uri="{FF2B5EF4-FFF2-40B4-BE49-F238E27FC236}">
                <a16:creationId xmlns:a16="http://schemas.microsoft.com/office/drawing/2014/main" id="{CE461F8C-6640-4B57-8BA2-E3F3A30C06F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9171" t="12555" r="32362" b="26449"/>
          <a:stretch>
            <a:fillRect/>
          </a:stretch>
        </p:blipFill>
        <p:spPr>
          <a:xfrm>
            <a:off x="101085" y="6289417"/>
            <a:ext cx="501570" cy="415824"/>
          </a:xfrm>
          <a:prstGeom prst="rect">
            <a:avLst/>
          </a:prstGeom>
        </p:spPr>
      </p:pic>
      <p:grpSp>
        <p:nvGrpSpPr>
          <p:cNvPr id="51" name="Agrupar 50">
            <a:extLst>
              <a:ext uri="{FF2B5EF4-FFF2-40B4-BE49-F238E27FC236}">
                <a16:creationId xmlns:a16="http://schemas.microsoft.com/office/drawing/2014/main" id="{BA92A209-9518-79BD-63B2-53D433E36904}"/>
              </a:ext>
            </a:extLst>
          </p:cNvPr>
          <p:cNvGrpSpPr>
            <a:grpSpLocks noChangeAspect="1"/>
          </p:cNvGrpSpPr>
          <p:nvPr/>
        </p:nvGrpSpPr>
        <p:grpSpPr>
          <a:xfrm>
            <a:off x="11401548" y="6375085"/>
            <a:ext cx="689367" cy="342074"/>
            <a:chOff x="307910" y="1699121"/>
            <a:chExt cx="1893050" cy="1044157"/>
          </a:xfrm>
        </p:grpSpPr>
        <p:pic>
          <p:nvPicPr>
            <p:cNvPr id="52" name="Imagem 51">
              <a:extLst>
                <a:ext uri="{FF2B5EF4-FFF2-40B4-BE49-F238E27FC236}">
                  <a16:creationId xmlns:a16="http://schemas.microsoft.com/office/drawing/2014/main" id="{720EFA40-EEFD-A454-3FCA-81A66E410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53" name="Imagem 52">
              <a:extLst>
                <a:ext uri="{FF2B5EF4-FFF2-40B4-BE49-F238E27FC236}">
                  <a16:creationId xmlns:a16="http://schemas.microsoft.com/office/drawing/2014/main" id="{F70531C3-E60A-9F78-934B-8C38C5D79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84238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13805-8520-8AF2-5123-FD5F61C2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D289F5-DBAC-3821-AED3-CE6C605F88D3}"/>
              </a:ext>
            </a:extLst>
          </p:cNvPr>
          <p:cNvSpPr/>
          <p:nvPr/>
        </p:nvSpPr>
        <p:spPr>
          <a:xfrm>
            <a:off x="-31086" y="0"/>
            <a:ext cx="12191695" cy="6858000"/>
          </a:xfrm>
          <a:prstGeom prst="rect">
            <a:avLst/>
          </a:prstGeom>
          <a:solidFill>
            <a:srgbClr val="030917">
              <a:alpha val="62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0FCD1E-8AB3-0775-4133-728AE4F7CE5E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38D5E2-37D0-3A37-7986-76C5573A0988}"/>
              </a:ext>
            </a:extLst>
          </p:cNvPr>
          <p:cNvSpPr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4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29572BF-4397-6B37-9E5E-2BA601AF32D0}"/>
              </a:ext>
            </a:extLst>
          </p:cNvPr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7D6"/>
                </a:solidFill>
              </a:rPr>
              <a:t>04</a:t>
            </a:r>
            <a:endParaRPr lang="en-US" sz="800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926D420-C71C-DC46-C0B2-C384C040F353}"/>
              </a:ext>
            </a:extLst>
          </p:cNvPr>
          <p:cNvGrpSpPr/>
          <p:nvPr/>
        </p:nvGrpSpPr>
        <p:grpSpPr>
          <a:xfrm>
            <a:off x="-94675" y="1312505"/>
            <a:ext cx="11616848" cy="3321780"/>
            <a:chOff x="0" y="1507313"/>
            <a:chExt cx="11616848" cy="3321780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DA9E403C-A301-414E-224B-FAA66086FD1E}"/>
                </a:ext>
              </a:extLst>
            </p:cNvPr>
            <p:cNvGrpSpPr/>
            <p:nvPr/>
          </p:nvGrpSpPr>
          <p:grpSpPr>
            <a:xfrm>
              <a:off x="0" y="1769943"/>
              <a:ext cx="1874520" cy="2642616"/>
              <a:chOff x="210312" y="938938"/>
              <a:chExt cx="1874520" cy="2642616"/>
            </a:xfrm>
          </p:grpSpPr>
          <p:sp>
            <p:nvSpPr>
              <p:cNvPr id="20" name="Shape 17">
                <a:extLst>
                  <a:ext uri="{FF2B5EF4-FFF2-40B4-BE49-F238E27FC236}">
                    <a16:creationId xmlns:a16="http://schemas.microsoft.com/office/drawing/2014/main" id="{8EA4DBCE-76E7-65BA-040B-B778B7FB394D}"/>
                  </a:ext>
                </a:extLst>
              </p:cNvPr>
              <p:cNvSpPr/>
              <p:nvPr/>
            </p:nvSpPr>
            <p:spPr>
              <a:xfrm>
                <a:off x="594360" y="938938"/>
                <a:ext cx="960120" cy="960120"/>
              </a:xfrm>
              <a:prstGeom prst="ellipse">
                <a:avLst/>
              </a:prstGeom>
              <a:solidFill>
                <a:srgbClr val="FF0000">
                  <a:alpha val="95000"/>
                </a:srgbClr>
              </a:solidFill>
              <a:ln w="12700">
                <a:solidFill>
                  <a:srgbClr val="E91E63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029FDAD7-D9EF-DF0A-462A-6096C400A72D}"/>
                  </a:ext>
                </a:extLst>
              </p:cNvPr>
              <p:cNvSpPr/>
              <p:nvPr/>
            </p:nvSpPr>
            <p:spPr>
              <a:xfrm>
                <a:off x="365760" y="2164234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Combinação</a:t>
                </a:r>
                <a:r>
                  <a:rPr lang="en-US" sz="1250" b="1" dirty="0">
                    <a:solidFill>
                      <a:srgbClr val="FFFFFF"/>
                    </a:solidFill>
                  </a:rPr>
                  <a:t> de </a:t>
                </a:r>
                <a:r>
                  <a:rPr lang="en-US" sz="1250" b="1" dirty="0" err="1">
                    <a:solidFill>
                      <a:srgbClr val="FFFFFF"/>
                    </a:solidFill>
                  </a:rPr>
                  <a:t>Índice</a:t>
                </a:r>
                <a:endParaRPr lang="en-US" sz="1250" dirty="0"/>
              </a:p>
            </p:txBody>
          </p:sp>
          <p:sp>
            <p:nvSpPr>
              <p:cNvPr id="23" name="Text 20">
                <a:extLst>
                  <a:ext uri="{FF2B5EF4-FFF2-40B4-BE49-F238E27FC236}">
                    <a16:creationId xmlns:a16="http://schemas.microsoft.com/office/drawing/2014/main" id="{A18E0620-E2B5-9C6B-DC52-D5F47B53F69B}"/>
                  </a:ext>
                </a:extLst>
              </p:cNvPr>
              <p:cNvSpPr/>
              <p:nvPr/>
            </p:nvSpPr>
            <p:spPr>
              <a:xfrm>
                <a:off x="210312" y="2740306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INDE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melhora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conforme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indicadores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desempenho</a:t>
                </a:r>
                <a:r>
                  <a:rPr lang="en-US" sz="1050" dirty="0">
                    <a:solidFill>
                      <a:srgbClr val="B9C7D6"/>
                    </a:solidFill>
                  </a:rPr>
                  <a:t>,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engajamento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acompanhamento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psicologico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sobem</a:t>
                </a:r>
                <a:r>
                  <a:rPr lang="en-US" sz="1050" dirty="0">
                    <a:solidFill>
                      <a:srgbClr val="B9C7D6"/>
                    </a:solidFill>
                  </a:rPr>
                  <a:t>.</a:t>
                </a:r>
                <a:endParaRPr lang="en-US" sz="1050" dirty="0"/>
              </a:p>
            </p:txBody>
          </p:sp>
          <p:sp>
            <p:nvSpPr>
              <p:cNvPr id="21" name="Text 18">
                <a:extLst>
                  <a:ext uri="{FF2B5EF4-FFF2-40B4-BE49-F238E27FC236}">
                    <a16:creationId xmlns:a16="http://schemas.microsoft.com/office/drawing/2014/main" id="{ECC686D7-E14A-CDF3-CDA4-CFA937D8AEB9}"/>
                  </a:ext>
                </a:extLst>
              </p:cNvPr>
              <p:cNvSpPr/>
              <p:nvPr/>
            </p:nvSpPr>
            <p:spPr>
              <a:xfrm>
                <a:off x="640080" y="1232993"/>
                <a:ext cx="8686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01428"/>
                    </a:solidFill>
                  </a:rPr>
                  <a:t>INDE</a:t>
                </a:r>
                <a:endParaRPr lang="en-US" sz="1500" dirty="0"/>
              </a:p>
            </p:txBody>
          </p:sp>
        </p:grp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5F74744-8144-814D-58FD-8F39A0552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0552" y="1507313"/>
              <a:ext cx="4550767" cy="3321780"/>
            </a:xfrm>
            <a:prstGeom prst="roundRect">
              <a:avLst>
                <a:gd name="adj" fmla="val 18789"/>
              </a:avLst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14945C2-E3DC-873B-B69A-C686BB133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9208" y="1560692"/>
              <a:ext cx="4477640" cy="3268401"/>
            </a:xfrm>
            <a:prstGeom prst="roundRect">
              <a:avLst/>
            </a:prstGeom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67876C14-F9DB-E80D-70EF-F0C192EF9654}"/>
              </a:ext>
            </a:extLst>
          </p:cNvPr>
          <p:cNvGrpSpPr/>
          <p:nvPr/>
        </p:nvGrpSpPr>
        <p:grpSpPr>
          <a:xfrm>
            <a:off x="-31086" y="701099"/>
            <a:ext cx="10731374" cy="5146394"/>
            <a:chOff x="44282" y="855803"/>
            <a:chExt cx="10731374" cy="5146394"/>
          </a:xfrm>
        </p:grpSpPr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4F472DF9-28EE-E054-AED6-B10DEE479DC3}"/>
                </a:ext>
              </a:extLst>
            </p:cNvPr>
            <p:cNvGrpSpPr/>
            <p:nvPr/>
          </p:nvGrpSpPr>
          <p:grpSpPr>
            <a:xfrm>
              <a:off x="44282" y="1769943"/>
              <a:ext cx="1874520" cy="2457093"/>
              <a:chOff x="44282" y="1769943"/>
              <a:chExt cx="1874520" cy="2457093"/>
            </a:xfrm>
          </p:grpSpPr>
          <p:grpSp>
            <p:nvGrpSpPr>
              <p:cNvPr id="14" name="Agrupar 13">
                <a:extLst>
                  <a:ext uri="{FF2B5EF4-FFF2-40B4-BE49-F238E27FC236}">
                    <a16:creationId xmlns:a16="http://schemas.microsoft.com/office/drawing/2014/main" id="{092007B7-C632-0690-E996-D7F0C1A1B8B4}"/>
                  </a:ext>
                </a:extLst>
              </p:cNvPr>
              <p:cNvGrpSpPr/>
              <p:nvPr/>
            </p:nvGrpSpPr>
            <p:grpSpPr>
              <a:xfrm>
                <a:off x="384048" y="1769943"/>
                <a:ext cx="960120" cy="960120"/>
                <a:chOff x="384048" y="1769943"/>
                <a:chExt cx="960120" cy="960120"/>
              </a:xfrm>
              <a:solidFill>
                <a:schemeClr val="accent4">
                  <a:lumMod val="20000"/>
                  <a:lumOff val="80000"/>
                </a:schemeClr>
              </a:solidFill>
            </p:grpSpPr>
            <p:sp>
              <p:nvSpPr>
                <p:cNvPr id="15" name="Shape 17">
                  <a:extLst>
                    <a:ext uri="{FF2B5EF4-FFF2-40B4-BE49-F238E27FC236}">
                      <a16:creationId xmlns:a16="http://schemas.microsoft.com/office/drawing/2014/main" id="{682962E3-06A4-3892-ADB0-0C354B13F928}"/>
                    </a:ext>
                  </a:extLst>
                </p:cNvPr>
                <p:cNvSpPr/>
                <p:nvPr/>
              </p:nvSpPr>
              <p:spPr>
                <a:xfrm>
                  <a:off x="384048" y="1769943"/>
                  <a:ext cx="960120" cy="960120"/>
                </a:xfrm>
                <a:prstGeom prst="ellipse">
                  <a:avLst/>
                </a:prstGeom>
                <a:grpFill/>
                <a:ln w="12700">
                  <a:solidFill>
                    <a:srgbClr val="E91E63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 dirty="0"/>
                </a:p>
              </p:txBody>
            </p:sp>
            <p:sp>
              <p:nvSpPr>
                <p:cNvPr id="16" name="Text 18">
                  <a:extLst>
                    <a:ext uri="{FF2B5EF4-FFF2-40B4-BE49-F238E27FC236}">
                      <a16:creationId xmlns:a16="http://schemas.microsoft.com/office/drawing/2014/main" id="{A2815464-C3FD-FB27-0288-54A548621DF1}"/>
                    </a:ext>
                  </a:extLst>
                </p:cNvPr>
                <p:cNvSpPr/>
                <p:nvPr/>
              </p:nvSpPr>
              <p:spPr>
                <a:xfrm>
                  <a:off x="429768" y="2063998"/>
                  <a:ext cx="868680" cy="365760"/>
                </a:xfrm>
                <a:prstGeom prst="rect">
                  <a:avLst/>
                </a:prstGeom>
                <a:grp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Passos </a:t>
                  </a:r>
                  <a:r>
                    <a:rPr lang="en-US" sz="1500" b="1" dirty="0" err="1">
                      <a:solidFill>
                        <a:srgbClr val="001428"/>
                      </a:solidFill>
                    </a:rPr>
                    <a:t>Mágicos</a:t>
                  </a:r>
                  <a:endParaRPr lang="en-US" sz="1500" dirty="0"/>
                </a:p>
              </p:txBody>
            </p:sp>
          </p:grpSp>
          <p:sp>
            <p:nvSpPr>
              <p:cNvPr id="17" name="Text 15">
                <a:extLst>
                  <a:ext uri="{FF2B5EF4-FFF2-40B4-BE49-F238E27FC236}">
                    <a16:creationId xmlns:a16="http://schemas.microsoft.com/office/drawing/2014/main" id="{410FA519-C0B7-EAAF-838F-4788776D485D}"/>
                  </a:ext>
                </a:extLst>
              </p:cNvPr>
              <p:cNvSpPr/>
              <p:nvPr/>
            </p:nvSpPr>
            <p:spPr>
              <a:xfrm>
                <a:off x="190239" y="2845203"/>
                <a:ext cx="15087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 err="1">
                    <a:solidFill>
                      <a:srgbClr val="FFFFFF"/>
                    </a:solidFill>
                  </a:rPr>
                  <a:t>Efetividade</a:t>
                </a:r>
                <a:r>
                  <a:rPr lang="en-US" sz="1250" b="1" dirty="0">
                    <a:solidFill>
                      <a:srgbClr val="FFFFFF"/>
                    </a:solidFill>
                  </a:rPr>
                  <a:t> do </a:t>
                </a:r>
                <a:r>
                  <a:rPr lang="en-US" sz="1250" b="1" dirty="0" err="1">
                    <a:solidFill>
                      <a:srgbClr val="FFFFFF"/>
                    </a:solidFill>
                  </a:rPr>
                  <a:t>Programa</a:t>
                </a:r>
                <a:endParaRPr lang="en-US" sz="1250" dirty="0"/>
              </a:p>
            </p:txBody>
          </p:sp>
          <p:sp>
            <p:nvSpPr>
              <p:cNvPr id="18" name="Text 16">
                <a:extLst>
                  <a:ext uri="{FF2B5EF4-FFF2-40B4-BE49-F238E27FC236}">
                    <a16:creationId xmlns:a16="http://schemas.microsoft.com/office/drawing/2014/main" id="{787AC6F5-5293-9ADE-E11E-56421DD22BD4}"/>
                  </a:ext>
                </a:extLst>
              </p:cNvPr>
              <p:cNvSpPr/>
              <p:nvPr/>
            </p:nvSpPr>
            <p:spPr>
              <a:xfrm>
                <a:off x="44282" y="3385788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 err="1">
                    <a:solidFill>
                      <a:srgbClr val="B9C7D6"/>
                    </a:solidFill>
                  </a:rPr>
                  <a:t>Melhora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nos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anos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porem</a:t>
                </a:r>
                <a:r>
                  <a:rPr lang="en-US" sz="1050" dirty="0">
                    <a:solidFill>
                      <a:srgbClr val="B9C7D6"/>
                    </a:solidFill>
                  </a:rPr>
                  <a:t> com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ressalvas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dado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evasoes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novos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entrantes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.</a:t>
                </a:r>
                <a:endParaRPr lang="en-US" sz="1050" dirty="0"/>
              </a:p>
            </p:txBody>
          </p:sp>
        </p:grp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15093903-062B-2D27-496C-4EAD344F8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4834" y="855803"/>
              <a:ext cx="8600822" cy="5146394"/>
            </a:xfrm>
            <a:prstGeom prst="roundRect">
              <a:avLst>
                <a:gd name="adj" fmla="val 19036"/>
              </a:avLst>
            </a:prstGeom>
          </p:spPr>
        </p:pic>
      </p:grpSp>
      <p:pic>
        <p:nvPicPr>
          <p:cNvPr id="69" name="Imagem 68">
            <a:extLst>
              <a:ext uri="{FF2B5EF4-FFF2-40B4-BE49-F238E27FC236}">
                <a16:creationId xmlns:a16="http://schemas.microsoft.com/office/drawing/2014/main" id="{6DEA9E06-C816-D110-9459-C187FD19164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171" t="12555" r="32362" b="26449"/>
          <a:stretch>
            <a:fillRect/>
          </a:stretch>
        </p:blipFill>
        <p:spPr>
          <a:xfrm>
            <a:off x="101085" y="6289417"/>
            <a:ext cx="501570" cy="415824"/>
          </a:xfrm>
          <a:prstGeom prst="rect">
            <a:avLst/>
          </a:prstGeom>
        </p:spPr>
      </p:pic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B112804-55D5-BE08-5101-AAD494CF8606}"/>
              </a:ext>
            </a:extLst>
          </p:cNvPr>
          <p:cNvGrpSpPr>
            <a:grpSpLocks noChangeAspect="1"/>
          </p:cNvGrpSpPr>
          <p:nvPr/>
        </p:nvGrpSpPr>
        <p:grpSpPr>
          <a:xfrm>
            <a:off x="11401548" y="6375085"/>
            <a:ext cx="689367" cy="342074"/>
            <a:chOff x="307910" y="1699121"/>
            <a:chExt cx="1893050" cy="1044157"/>
          </a:xfrm>
        </p:grpSpPr>
        <p:pic>
          <p:nvPicPr>
            <p:cNvPr id="71" name="Imagem 70">
              <a:extLst>
                <a:ext uri="{FF2B5EF4-FFF2-40B4-BE49-F238E27FC236}">
                  <a16:creationId xmlns:a16="http://schemas.microsoft.com/office/drawing/2014/main" id="{5C286A42-8064-36D8-455B-F31B1A36C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72" name="Imagem 71">
              <a:extLst>
                <a:ext uri="{FF2B5EF4-FFF2-40B4-BE49-F238E27FC236}">
                  <a16:creationId xmlns:a16="http://schemas.microsoft.com/office/drawing/2014/main" id="{20BDA9FE-0B63-826A-6A1B-A91CDDBDE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2919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FBD72-1B74-74D0-7279-166289A7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A058E4-3E3F-7750-6242-0711F1254EE0}"/>
              </a:ext>
            </a:extLst>
          </p:cNvPr>
          <p:cNvSpPr/>
          <p:nvPr/>
        </p:nvSpPr>
        <p:spPr>
          <a:xfrm>
            <a:off x="-31086" y="0"/>
            <a:ext cx="12191695" cy="6858000"/>
          </a:xfrm>
          <a:prstGeom prst="rect">
            <a:avLst/>
          </a:prstGeom>
          <a:solidFill>
            <a:srgbClr val="030917">
              <a:alpha val="62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889F46-0C0E-D313-25D9-C3563237CC71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85D718-1F88-644A-30D7-E5AE847C08CB}"/>
              </a:ext>
            </a:extLst>
          </p:cNvPr>
          <p:cNvSpPr/>
          <p:nvPr/>
        </p:nvSpPr>
        <p:spPr>
          <a:xfrm>
            <a:off x="59436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4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DE RISCO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F05C4CD-4A17-AA9C-237D-D529714A8D0F}"/>
              </a:ext>
            </a:extLst>
          </p:cNvPr>
          <p:cNvSpPr/>
          <p:nvPr/>
        </p:nvSpPr>
        <p:spPr>
          <a:xfrm>
            <a:off x="1129284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7D6"/>
                </a:solidFill>
              </a:rPr>
              <a:t>05</a:t>
            </a:r>
            <a:endParaRPr lang="en-US" sz="8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3DED3728-8197-A624-6DB5-66DB4A48085F}"/>
              </a:ext>
            </a:extLst>
          </p:cNvPr>
          <p:cNvSpPr/>
          <p:nvPr/>
        </p:nvSpPr>
        <p:spPr>
          <a:xfrm>
            <a:off x="429768" y="59334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Padrões</a:t>
            </a: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Alunos de Risco </a:t>
            </a:r>
            <a:r>
              <a:rPr lang="en-US" sz="30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Defasagem</a:t>
            </a:r>
            <a:endParaRPr lang="en-US" sz="3000" dirty="0"/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8FB9DB24-1FF9-8B4A-FCE5-5D196B9F2D94}"/>
              </a:ext>
            </a:extLst>
          </p:cNvPr>
          <p:cNvGrpSpPr/>
          <p:nvPr/>
        </p:nvGrpSpPr>
        <p:grpSpPr>
          <a:xfrm>
            <a:off x="136655" y="1496017"/>
            <a:ext cx="11856214" cy="2459424"/>
            <a:chOff x="167892" y="2092228"/>
            <a:chExt cx="11856214" cy="2459424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E4A974E9-A0D1-1F44-D2CF-69D6A4A233F7}"/>
                </a:ext>
              </a:extLst>
            </p:cNvPr>
            <p:cNvGrpSpPr/>
            <p:nvPr/>
          </p:nvGrpSpPr>
          <p:grpSpPr>
            <a:xfrm>
              <a:off x="167892" y="2124486"/>
              <a:ext cx="1874520" cy="1839929"/>
              <a:chOff x="32015" y="2124486"/>
              <a:chExt cx="1874520" cy="1839929"/>
            </a:xfrm>
          </p:grpSpPr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F7C335F0-79DA-E720-754F-66DEE09696E4}"/>
                  </a:ext>
                </a:extLst>
              </p:cNvPr>
              <p:cNvGrpSpPr/>
              <p:nvPr/>
            </p:nvGrpSpPr>
            <p:grpSpPr>
              <a:xfrm>
                <a:off x="521678" y="2124486"/>
                <a:ext cx="960120" cy="960120"/>
                <a:chOff x="477363" y="1863835"/>
                <a:chExt cx="960120" cy="960120"/>
              </a:xfrm>
            </p:grpSpPr>
            <p:sp>
              <p:nvSpPr>
                <p:cNvPr id="28" name="Shape 5">
                  <a:extLst>
                    <a:ext uri="{FF2B5EF4-FFF2-40B4-BE49-F238E27FC236}">
                      <a16:creationId xmlns:a16="http://schemas.microsoft.com/office/drawing/2014/main" id="{AB1DDF79-D692-8A20-5363-1F7107C9CF6E}"/>
                    </a:ext>
                  </a:extLst>
                </p:cNvPr>
                <p:cNvSpPr/>
                <p:nvPr/>
              </p:nvSpPr>
              <p:spPr>
                <a:xfrm>
                  <a:off x="477363" y="1863835"/>
                  <a:ext cx="960120" cy="960120"/>
                </a:xfrm>
                <a:prstGeom prst="ellipse">
                  <a:avLst/>
                </a:prstGeom>
                <a:solidFill>
                  <a:srgbClr val="2EA7FF">
                    <a:alpha val="95000"/>
                  </a:srgbClr>
                </a:solidFill>
                <a:ln w="12700">
                  <a:solidFill>
                    <a:srgbClr val="2EA7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32" name="Text 6">
                  <a:extLst>
                    <a:ext uri="{FF2B5EF4-FFF2-40B4-BE49-F238E27FC236}">
                      <a16:creationId xmlns:a16="http://schemas.microsoft.com/office/drawing/2014/main" id="{F610AA4E-152F-DEFB-9E0B-A139E8EA9A80}"/>
                    </a:ext>
                  </a:extLst>
                </p:cNvPr>
                <p:cNvSpPr/>
                <p:nvPr/>
              </p:nvSpPr>
              <p:spPr>
                <a:xfrm>
                  <a:off x="527655" y="2190758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IAN</a:t>
                  </a:r>
                  <a:endParaRPr lang="en-US" sz="1500" dirty="0"/>
                </a:p>
              </p:txBody>
            </p:sp>
          </p:grpSp>
          <p:sp>
            <p:nvSpPr>
              <p:cNvPr id="49" name="Text 20">
                <a:extLst>
                  <a:ext uri="{FF2B5EF4-FFF2-40B4-BE49-F238E27FC236}">
                    <a16:creationId xmlns:a16="http://schemas.microsoft.com/office/drawing/2014/main" id="{173CB6DA-980E-87B9-8E79-DCA57580C62F}"/>
                  </a:ext>
                </a:extLst>
              </p:cNvPr>
              <p:cNvSpPr/>
              <p:nvPr/>
            </p:nvSpPr>
            <p:spPr>
              <a:xfrm>
                <a:off x="32015" y="3123167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Valores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mais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baixos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sinalizam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maior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defasagem</a:t>
                </a:r>
                <a:endParaRPr lang="en-US" sz="1050" dirty="0"/>
              </a:p>
            </p:txBody>
          </p:sp>
        </p:grpSp>
        <p:grpSp>
          <p:nvGrpSpPr>
            <p:cNvPr id="53" name="Agrupar 52">
              <a:extLst>
                <a:ext uri="{FF2B5EF4-FFF2-40B4-BE49-F238E27FC236}">
                  <a16:creationId xmlns:a16="http://schemas.microsoft.com/office/drawing/2014/main" id="{854AC589-B5CE-BDD5-7815-138578335C08}"/>
                </a:ext>
              </a:extLst>
            </p:cNvPr>
            <p:cNvGrpSpPr/>
            <p:nvPr/>
          </p:nvGrpSpPr>
          <p:grpSpPr>
            <a:xfrm>
              <a:off x="2210304" y="2096220"/>
              <a:ext cx="1874520" cy="1839196"/>
              <a:chOff x="2162567" y="2117459"/>
              <a:chExt cx="1874520" cy="1839196"/>
            </a:xfrm>
          </p:grpSpPr>
          <p:grpSp>
            <p:nvGrpSpPr>
              <p:cNvPr id="38" name="Agrupar 37">
                <a:extLst>
                  <a:ext uri="{FF2B5EF4-FFF2-40B4-BE49-F238E27FC236}">
                    <a16:creationId xmlns:a16="http://schemas.microsoft.com/office/drawing/2014/main" id="{408463C2-0901-701F-F29A-30F022513068}"/>
                  </a:ext>
                </a:extLst>
              </p:cNvPr>
              <p:cNvGrpSpPr/>
              <p:nvPr/>
            </p:nvGrpSpPr>
            <p:grpSpPr>
              <a:xfrm>
                <a:off x="2601759" y="2117459"/>
                <a:ext cx="960120" cy="960120"/>
                <a:chOff x="1775811" y="1867916"/>
                <a:chExt cx="960120" cy="960120"/>
              </a:xfrm>
            </p:grpSpPr>
            <p:sp>
              <p:nvSpPr>
                <p:cNvPr id="34" name="Shape 13">
                  <a:extLst>
                    <a:ext uri="{FF2B5EF4-FFF2-40B4-BE49-F238E27FC236}">
                      <a16:creationId xmlns:a16="http://schemas.microsoft.com/office/drawing/2014/main" id="{AEE6346A-9D21-A2AA-0226-CBF5FA30EF9A}"/>
                    </a:ext>
                  </a:extLst>
                </p:cNvPr>
                <p:cNvSpPr/>
                <p:nvPr/>
              </p:nvSpPr>
              <p:spPr>
                <a:xfrm>
                  <a:off x="1775811" y="1867916"/>
                  <a:ext cx="960120" cy="960120"/>
                </a:xfrm>
                <a:prstGeom prst="ellipse">
                  <a:avLst/>
                </a:prstGeom>
                <a:solidFill>
                  <a:srgbClr val="FFD166">
                    <a:alpha val="95000"/>
                  </a:srgbClr>
                </a:solidFill>
                <a:ln w="12700">
                  <a:solidFill>
                    <a:srgbClr val="FFD166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35" name="Text 14">
                  <a:extLst>
                    <a:ext uri="{FF2B5EF4-FFF2-40B4-BE49-F238E27FC236}">
                      <a16:creationId xmlns:a16="http://schemas.microsoft.com/office/drawing/2014/main" id="{ED6BF8C2-ABEC-0E45-CD2F-1C4BDC98ED18}"/>
                    </a:ext>
                  </a:extLst>
                </p:cNvPr>
                <p:cNvSpPr/>
                <p:nvPr/>
              </p:nvSpPr>
              <p:spPr>
                <a:xfrm>
                  <a:off x="1824244" y="2208512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IEG</a:t>
                  </a:r>
                  <a:endParaRPr lang="en-US" sz="1500" dirty="0"/>
                </a:p>
              </p:txBody>
            </p:sp>
          </p:grpSp>
          <p:sp>
            <p:nvSpPr>
              <p:cNvPr id="50" name="Text 20">
                <a:extLst>
                  <a:ext uri="{FF2B5EF4-FFF2-40B4-BE49-F238E27FC236}">
                    <a16:creationId xmlns:a16="http://schemas.microsoft.com/office/drawing/2014/main" id="{644C462A-EA38-4FA6-C7BF-BD5D7EAA6EF6}"/>
                  </a:ext>
                </a:extLst>
              </p:cNvPr>
              <p:cNvSpPr/>
              <p:nvPr/>
            </p:nvSpPr>
            <p:spPr>
              <a:xfrm>
                <a:off x="2162567" y="3115407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Menor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engajamento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pode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anteceder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evasão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ou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queda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desempenho</a:t>
                </a:r>
                <a:endParaRPr lang="en-US" sz="1050" dirty="0"/>
              </a:p>
            </p:txBody>
          </p:sp>
        </p:grpSp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id="{1826F89C-5E45-CA0F-393C-6BE16F7996D6}"/>
                </a:ext>
              </a:extLst>
            </p:cNvPr>
            <p:cNvGrpSpPr/>
            <p:nvPr/>
          </p:nvGrpSpPr>
          <p:grpSpPr>
            <a:xfrm>
              <a:off x="4252716" y="2092228"/>
              <a:ext cx="1644154" cy="1794632"/>
              <a:chOff x="4189487" y="2150717"/>
              <a:chExt cx="1644154" cy="1794632"/>
            </a:xfrm>
          </p:grpSpPr>
          <p:grpSp>
            <p:nvGrpSpPr>
              <p:cNvPr id="39" name="Agrupar 38">
                <a:extLst>
                  <a:ext uri="{FF2B5EF4-FFF2-40B4-BE49-F238E27FC236}">
                    <a16:creationId xmlns:a16="http://schemas.microsoft.com/office/drawing/2014/main" id="{A703C5CD-CDE8-BC3C-3973-9A12E6152B86}"/>
                  </a:ext>
                </a:extLst>
              </p:cNvPr>
              <p:cNvGrpSpPr/>
              <p:nvPr/>
            </p:nvGrpSpPr>
            <p:grpSpPr>
              <a:xfrm>
                <a:off x="4496504" y="2150717"/>
                <a:ext cx="960120" cy="960120"/>
                <a:chOff x="3074259" y="1905770"/>
                <a:chExt cx="960120" cy="960120"/>
              </a:xfrm>
            </p:grpSpPr>
            <p:sp>
              <p:nvSpPr>
                <p:cNvPr id="36" name="Shape 9">
                  <a:extLst>
                    <a:ext uri="{FF2B5EF4-FFF2-40B4-BE49-F238E27FC236}">
                      <a16:creationId xmlns:a16="http://schemas.microsoft.com/office/drawing/2014/main" id="{2EACC837-EA7F-238C-848A-0FA872753EDE}"/>
                    </a:ext>
                  </a:extLst>
                </p:cNvPr>
                <p:cNvSpPr/>
                <p:nvPr/>
              </p:nvSpPr>
              <p:spPr>
                <a:xfrm>
                  <a:off x="3074259" y="1905770"/>
                  <a:ext cx="960120" cy="960120"/>
                </a:xfrm>
                <a:prstGeom prst="ellipse">
                  <a:avLst/>
                </a:prstGeom>
                <a:solidFill>
                  <a:srgbClr val="65E4A3">
                    <a:alpha val="95000"/>
                  </a:srgbClr>
                </a:solidFill>
                <a:ln w="12700">
                  <a:solidFill>
                    <a:srgbClr val="65E4A3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37" name="Text 10">
                  <a:extLst>
                    <a:ext uri="{FF2B5EF4-FFF2-40B4-BE49-F238E27FC236}">
                      <a16:creationId xmlns:a16="http://schemas.microsoft.com/office/drawing/2014/main" id="{25E318F5-26DA-6691-D728-5A18A789E2CA}"/>
                    </a:ext>
                  </a:extLst>
                </p:cNvPr>
                <p:cNvSpPr/>
                <p:nvPr/>
              </p:nvSpPr>
              <p:spPr>
                <a:xfrm>
                  <a:off x="3119979" y="2256739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IDA</a:t>
                  </a:r>
                  <a:endParaRPr lang="en-US" sz="1500" dirty="0"/>
                </a:p>
              </p:txBody>
            </p:sp>
          </p:grpSp>
          <p:sp>
            <p:nvSpPr>
              <p:cNvPr id="51" name="Text 20">
                <a:extLst>
                  <a:ext uri="{FF2B5EF4-FFF2-40B4-BE49-F238E27FC236}">
                    <a16:creationId xmlns:a16="http://schemas.microsoft.com/office/drawing/2014/main" id="{8E483FBE-286D-20F0-10AA-DC039A79D5BB}"/>
                  </a:ext>
                </a:extLst>
              </p:cNvPr>
              <p:cNvSpPr/>
              <p:nvPr/>
            </p:nvSpPr>
            <p:spPr>
              <a:xfrm>
                <a:off x="4189487" y="3104101"/>
                <a:ext cx="1644154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Quedas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ou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valores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baixos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indicam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risco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operacional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endParaRPr lang="en-US" sz="1050" dirty="0"/>
              </a:p>
            </p:txBody>
          </p: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id="{95EDFA2D-641C-B5BF-EC01-FC3576201B6E}"/>
                </a:ext>
              </a:extLst>
            </p:cNvPr>
            <p:cNvGrpSpPr/>
            <p:nvPr/>
          </p:nvGrpSpPr>
          <p:grpSpPr>
            <a:xfrm>
              <a:off x="6064762" y="2108509"/>
              <a:ext cx="1874520" cy="1855906"/>
              <a:chOff x="5779782" y="2108509"/>
              <a:chExt cx="1874520" cy="1855906"/>
            </a:xfrm>
          </p:grpSpPr>
          <p:grpSp>
            <p:nvGrpSpPr>
              <p:cNvPr id="42" name="Agrupar 41">
                <a:extLst>
                  <a:ext uri="{FF2B5EF4-FFF2-40B4-BE49-F238E27FC236}">
                    <a16:creationId xmlns:a16="http://schemas.microsoft.com/office/drawing/2014/main" id="{F476BE4A-A62B-A36C-72F4-695C065B52F4}"/>
                  </a:ext>
                </a:extLst>
              </p:cNvPr>
              <p:cNvGrpSpPr/>
              <p:nvPr/>
            </p:nvGrpSpPr>
            <p:grpSpPr>
              <a:xfrm>
                <a:off x="6285094" y="2108509"/>
                <a:ext cx="960120" cy="960120"/>
                <a:chOff x="4290411" y="1905770"/>
                <a:chExt cx="960120" cy="960120"/>
              </a:xfrm>
            </p:grpSpPr>
            <p:sp>
              <p:nvSpPr>
                <p:cNvPr id="40" name="Shape 13">
                  <a:extLst>
                    <a:ext uri="{FF2B5EF4-FFF2-40B4-BE49-F238E27FC236}">
                      <a16:creationId xmlns:a16="http://schemas.microsoft.com/office/drawing/2014/main" id="{956B7706-38E6-D309-79FF-5FA806E25DD4}"/>
                    </a:ext>
                  </a:extLst>
                </p:cNvPr>
                <p:cNvSpPr/>
                <p:nvPr/>
              </p:nvSpPr>
              <p:spPr>
                <a:xfrm>
                  <a:off x="4290411" y="1905770"/>
                  <a:ext cx="960120" cy="960120"/>
                </a:xfrm>
                <a:prstGeom prst="ellipse">
                  <a:avLst/>
                </a:prstGeom>
                <a:solidFill>
                  <a:schemeClr val="accent6">
                    <a:lumMod val="40000"/>
                    <a:lumOff val="60000"/>
                    <a:alpha val="95000"/>
                  </a:schemeClr>
                </a:solidFill>
                <a:ln w="12700">
                  <a:solidFill>
                    <a:srgbClr val="FFD166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41" name="Text 14">
                  <a:extLst>
                    <a:ext uri="{FF2B5EF4-FFF2-40B4-BE49-F238E27FC236}">
                      <a16:creationId xmlns:a16="http://schemas.microsoft.com/office/drawing/2014/main" id="{E0C91778-3BB2-05D2-BCA6-9F7FA6B93177}"/>
                    </a:ext>
                  </a:extLst>
                </p:cNvPr>
                <p:cNvSpPr/>
                <p:nvPr/>
              </p:nvSpPr>
              <p:spPr>
                <a:xfrm>
                  <a:off x="4336131" y="2248670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IPV</a:t>
                  </a:r>
                  <a:endParaRPr lang="en-US" sz="1500" dirty="0"/>
                </a:p>
              </p:txBody>
            </p:sp>
          </p:grpSp>
          <p:sp>
            <p:nvSpPr>
              <p:cNvPr id="55" name="Text 20">
                <a:extLst>
                  <a:ext uri="{FF2B5EF4-FFF2-40B4-BE49-F238E27FC236}">
                    <a16:creationId xmlns:a16="http://schemas.microsoft.com/office/drawing/2014/main" id="{B64D7BD2-62B2-5E95-846A-5D1D30B278EF}"/>
                  </a:ext>
                </a:extLst>
              </p:cNvPr>
              <p:cNvSpPr/>
              <p:nvPr/>
            </p:nvSpPr>
            <p:spPr>
              <a:xfrm>
                <a:off x="5779782" y="3123167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Valores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menores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indicam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menor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evidência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de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evolução</a:t>
                </a:r>
                <a:endParaRPr lang="en-US" sz="1050" dirty="0"/>
              </a:p>
            </p:txBody>
          </p:sp>
        </p:grpSp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E2363567-66FC-66B0-213C-45DE6CB2C07A}"/>
                </a:ext>
              </a:extLst>
            </p:cNvPr>
            <p:cNvGrpSpPr/>
            <p:nvPr/>
          </p:nvGrpSpPr>
          <p:grpSpPr>
            <a:xfrm>
              <a:off x="8107174" y="2096220"/>
              <a:ext cx="1874520" cy="1864423"/>
              <a:chOff x="7996426" y="2096220"/>
              <a:chExt cx="1874520" cy="1864423"/>
            </a:xfrm>
          </p:grpSpPr>
          <p:grpSp>
            <p:nvGrpSpPr>
              <p:cNvPr id="45" name="Agrupar 44">
                <a:extLst>
                  <a:ext uri="{FF2B5EF4-FFF2-40B4-BE49-F238E27FC236}">
                    <a16:creationId xmlns:a16="http://schemas.microsoft.com/office/drawing/2014/main" id="{030FE18E-0567-61AA-B4A8-64309F1AFD2F}"/>
                  </a:ext>
                </a:extLst>
              </p:cNvPr>
              <p:cNvGrpSpPr/>
              <p:nvPr/>
            </p:nvGrpSpPr>
            <p:grpSpPr>
              <a:xfrm>
                <a:off x="8380717" y="2096220"/>
                <a:ext cx="960120" cy="960120"/>
                <a:chOff x="5567730" y="1905770"/>
                <a:chExt cx="960120" cy="960120"/>
              </a:xfrm>
            </p:grpSpPr>
            <p:sp>
              <p:nvSpPr>
                <p:cNvPr id="43" name="Shape 5">
                  <a:extLst>
                    <a:ext uri="{FF2B5EF4-FFF2-40B4-BE49-F238E27FC236}">
                      <a16:creationId xmlns:a16="http://schemas.microsoft.com/office/drawing/2014/main" id="{EBFD5B7D-C273-4E1E-04C5-B93EE49BE054}"/>
                    </a:ext>
                  </a:extLst>
                </p:cNvPr>
                <p:cNvSpPr/>
                <p:nvPr/>
              </p:nvSpPr>
              <p:spPr>
                <a:xfrm>
                  <a:off x="5567730" y="1905770"/>
                  <a:ext cx="960120" cy="960120"/>
                </a:xfrm>
                <a:prstGeom prst="ellipse">
                  <a:avLst/>
                </a:prstGeom>
                <a:solidFill>
                  <a:schemeClr val="bg2">
                    <a:lumMod val="50000"/>
                    <a:alpha val="95000"/>
                  </a:schemeClr>
                </a:solidFill>
                <a:ln w="12700">
                  <a:solidFill>
                    <a:srgbClr val="2EA7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44" name="Text 6">
                  <a:extLst>
                    <a:ext uri="{FF2B5EF4-FFF2-40B4-BE49-F238E27FC236}">
                      <a16:creationId xmlns:a16="http://schemas.microsoft.com/office/drawing/2014/main" id="{C7A1DF6E-54A1-6ED3-243B-669E4903AA8D}"/>
                    </a:ext>
                  </a:extLst>
                </p:cNvPr>
                <p:cNvSpPr/>
                <p:nvPr/>
              </p:nvSpPr>
              <p:spPr>
                <a:xfrm>
                  <a:off x="5596214" y="2221771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IPS</a:t>
                  </a:r>
                  <a:endParaRPr lang="en-US" sz="1500" dirty="0"/>
                </a:p>
              </p:txBody>
            </p:sp>
          </p:grpSp>
          <p:sp>
            <p:nvSpPr>
              <p:cNvPr id="58" name="Text 20">
                <a:extLst>
                  <a:ext uri="{FF2B5EF4-FFF2-40B4-BE49-F238E27FC236}">
                    <a16:creationId xmlns:a16="http://schemas.microsoft.com/office/drawing/2014/main" id="{FB208581-F813-51F1-752A-C5AB4D0AB63D}"/>
                  </a:ext>
                </a:extLst>
              </p:cNvPr>
              <p:cNvSpPr/>
              <p:nvPr/>
            </p:nvSpPr>
            <p:spPr>
              <a:xfrm>
                <a:off x="7996426" y="3119395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B9C7D6"/>
                    </a:solidFill>
                  </a:rPr>
                  <a:t>Ajuda a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identificar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vulnerabilidades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antes da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queda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acadêmica</a:t>
                </a:r>
                <a:endParaRPr lang="en-US" sz="1050" dirty="0"/>
              </a:p>
            </p:txBody>
          </p:sp>
        </p:grpSp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BDF66902-9855-7761-07EB-3A69BB9E88AD}"/>
                </a:ext>
              </a:extLst>
            </p:cNvPr>
            <p:cNvGrpSpPr/>
            <p:nvPr/>
          </p:nvGrpSpPr>
          <p:grpSpPr>
            <a:xfrm>
              <a:off x="10149586" y="2111673"/>
              <a:ext cx="1874520" cy="1859576"/>
              <a:chOff x="10085054" y="2111673"/>
              <a:chExt cx="1874520" cy="1859576"/>
            </a:xfrm>
          </p:grpSpPr>
          <p:grpSp>
            <p:nvGrpSpPr>
              <p:cNvPr id="48" name="Agrupar 47">
                <a:extLst>
                  <a:ext uri="{FF2B5EF4-FFF2-40B4-BE49-F238E27FC236}">
                    <a16:creationId xmlns:a16="http://schemas.microsoft.com/office/drawing/2014/main" id="{B2925D1B-548C-BCF2-D826-0E8D434E7E64}"/>
                  </a:ext>
                </a:extLst>
              </p:cNvPr>
              <p:cNvGrpSpPr/>
              <p:nvPr/>
            </p:nvGrpSpPr>
            <p:grpSpPr>
              <a:xfrm>
                <a:off x="10426653" y="2111673"/>
                <a:ext cx="960120" cy="960120"/>
                <a:chOff x="6845049" y="1905770"/>
                <a:chExt cx="960120" cy="960120"/>
              </a:xfrm>
            </p:grpSpPr>
            <p:sp>
              <p:nvSpPr>
                <p:cNvPr id="46" name="Shape 17">
                  <a:extLst>
                    <a:ext uri="{FF2B5EF4-FFF2-40B4-BE49-F238E27FC236}">
                      <a16:creationId xmlns:a16="http://schemas.microsoft.com/office/drawing/2014/main" id="{0391C534-42E2-C172-6F11-E5E447B0CD30}"/>
                    </a:ext>
                  </a:extLst>
                </p:cNvPr>
                <p:cNvSpPr/>
                <p:nvPr/>
              </p:nvSpPr>
              <p:spPr>
                <a:xfrm>
                  <a:off x="6845049" y="1905770"/>
                  <a:ext cx="960120" cy="960120"/>
                </a:xfrm>
                <a:prstGeom prst="ellipse">
                  <a:avLst/>
                </a:prstGeom>
                <a:solidFill>
                  <a:srgbClr val="E91E63">
                    <a:alpha val="95000"/>
                  </a:srgbClr>
                </a:solidFill>
                <a:ln w="12700">
                  <a:solidFill>
                    <a:srgbClr val="E91E63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pt-PT"/>
                </a:p>
              </p:txBody>
            </p:sp>
            <p:sp>
              <p:nvSpPr>
                <p:cNvPr id="47" name="Text 18">
                  <a:extLst>
                    <a:ext uri="{FF2B5EF4-FFF2-40B4-BE49-F238E27FC236}">
                      <a16:creationId xmlns:a16="http://schemas.microsoft.com/office/drawing/2014/main" id="{2D8869A4-6688-7C4D-13FF-357808198354}"/>
                    </a:ext>
                  </a:extLst>
                </p:cNvPr>
                <p:cNvSpPr/>
                <p:nvPr/>
              </p:nvSpPr>
              <p:spPr>
                <a:xfrm>
                  <a:off x="6873530" y="2252095"/>
                  <a:ext cx="8686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00" b="1" dirty="0">
                      <a:solidFill>
                        <a:srgbClr val="001428"/>
                      </a:solidFill>
                    </a:rPr>
                    <a:t>IAA</a:t>
                  </a:r>
                  <a:endParaRPr lang="en-US" sz="1500" dirty="0"/>
                </a:p>
              </p:txBody>
            </p:sp>
          </p:grpSp>
          <p:sp>
            <p:nvSpPr>
              <p:cNvPr id="60" name="Text 20">
                <a:extLst>
                  <a:ext uri="{FF2B5EF4-FFF2-40B4-BE49-F238E27FC236}">
                    <a16:creationId xmlns:a16="http://schemas.microsoft.com/office/drawing/2014/main" id="{F86D060F-6513-6005-C565-C2CE5FCA4E1A}"/>
                  </a:ext>
                </a:extLst>
              </p:cNvPr>
              <p:cNvSpPr/>
              <p:nvPr/>
            </p:nvSpPr>
            <p:spPr>
              <a:xfrm>
                <a:off x="10085054" y="3130001"/>
                <a:ext cx="1874520" cy="8412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50" dirty="0" err="1">
                    <a:solidFill>
                      <a:schemeClr val="bg1"/>
                    </a:solidFill>
                  </a:rPr>
                  <a:t>Útil</a:t>
                </a:r>
                <a:r>
                  <a:rPr lang="en-US" sz="1050" dirty="0">
                    <a:solidFill>
                      <a:schemeClr val="bg1"/>
                    </a:solidFill>
                  </a:rPr>
                  <a:t> para comparer </a:t>
                </a:r>
                <a:r>
                  <a:rPr lang="en-US" sz="1050" dirty="0" err="1">
                    <a:solidFill>
                      <a:schemeClr val="bg1"/>
                    </a:solidFill>
                  </a:rPr>
                  <a:t>percepção</a:t>
                </a:r>
                <a:r>
                  <a:rPr lang="en-US" sz="1050" dirty="0">
                    <a:solidFill>
                      <a:schemeClr val="bg1"/>
                    </a:solidFill>
                  </a:rPr>
                  <a:t> do </a:t>
                </a:r>
                <a:r>
                  <a:rPr lang="en-US" sz="1050" dirty="0" err="1">
                    <a:solidFill>
                      <a:schemeClr val="bg1"/>
                    </a:solidFill>
                  </a:rPr>
                  <a:t>aluno</a:t>
                </a:r>
                <a:r>
                  <a:rPr lang="en-US" sz="1050" dirty="0">
                    <a:solidFill>
                      <a:schemeClr val="bg1"/>
                    </a:solidFill>
                  </a:rPr>
                  <a:t> X </a:t>
                </a:r>
                <a:r>
                  <a:rPr lang="en-US" sz="1050" dirty="0" err="1">
                    <a:solidFill>
                      <a:schemeClr val="bg1"/>
                    </a:solidFill>
                  </a:rPr>
                  <a:t>desempenho</a:t>
                </a:r>
                <a:r>
                  <a:rPr lang="en-US" sz="1050" dirty="0">
                    <a:solidFill>
                      <a:schemeClr val="bg1"/>
                    </a:solidFill>
                  </a:rPr>
                  <a:t> real</a:t>
                </a:r>
              </a:p>
            </p:txBody>
          </p:sp>
        </p:grpSp>
        <p:sp>
          <p:nvSpPr>
            <p:cNvPr id="63" name="Text 3">
              <a:extLst>
                <a:ext uri="{FF2B5EF4-FFF2-40B4-BE49-F238E27FC236}">
                  <a16:creationId xmlns:a16="http://schemas.microsoft.com/office/drawing/2014/main" id="{BD4B0A4C-BECC-2DB4-2B02-D2161B5A621E}"/>
                </a:ext>
              </a:extLst>
            </p:cNvPr>
            <p:cNvSpPr/>
            <p:nvPr/>
          </p:nvSpPr>
          <p:spPr>
            <a:xfrm>
              <a:off x="4890891" y="4003012"/>
              <a:ext cx="263930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000" b="1" dirty="0" err="1">
                  <a:solidFill>
                    <a:srgbClr val="FFFFFF"/>
                  </a:solidFill>
                  <a:latin typeface="Aptos Display" pitchFamily="34" charset="0"/>
                </a:rPr>
                <a:t>Idade</a:t>
              </a:r>
              <a:r>
                <a:rPr lang="en-US" sz="3000" b="1" dirty="0">
                  <a:solidFill>
                    <a:srgbClr val="FFFFFF"/>
                  </a:solidFill>
                  <a:latin typeface="Aptos Display" pitchFamily="34" charset="0"/>
                </a:rPr>
                <a:t> + Fase</a:t>
              </a:r>
              <a:endParaRPr lang="en-US" sz="3000" dirty="0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40451B72-2E68-ECB9-605C-CC8E84A5DE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171" t="12555" r="32362" b="26449"/>
          <a:stretch>
            <a:fillRect/>
          </a:stretch>
        </p:blipFill>
        <p:spPr>
          <a:xfrm>
            <a:off x="101085" y="6289417"/>
            <a:ext cx="501570" cy="415824"/>
          </a:xfrm>
          <a:prstGeom prst="rect">
            <a:avLst/>
          </a:prstGeom>
        </p:spPr>
      </p:pic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951AC59-71E0-2A39-84B4-B2B9FCDB0F27}"/>
              </a:ext>
            </a:extLst>
          </p:cNvPr>
          <p:cNvGrpSpPr>
            <a:grpSpLocks noChangeAspect="1"/>
          </p:cNvGrpSpPr>
          <p:nvPr/>
        </p:nvGrpSpPr>
        <p:grpSpPr>
          <a:xfrm>
            <a:off x="11401548" y="6375085"/>
            <a:ext cx="689367" cy="342074"/>
            <a:chOff x="307910" y="1699121"/>
            <a:chExt cx="1893050" cy="1044157"/>
          </a:xfrm>
        </p:grpSpPr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B7A8B827-8194-ED67-E501-060823D16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04364566-64FD-57D3-10B1-8A802A801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78280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30917">
              <a:alpha val="78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2E2794F-50D0-E5A6-7AAD-6A5DB0F25C92}"/>
              </a:ext>
            </a:extLst>
          </p:cNvPr>
          <p:cNvSpPr/>
          <p:nvPr/>
        </p:nvSpPr>
        <p:spPr>
          <a:xfrm>
            <a:off x="998220" y="1180397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4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8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42276B59-5B57-8492-57A9-914A5D2316AA}"/>
              </a:ext>
            </a:extLst>
          </p:cNvPr>
          <p:cNvSpPr/>
          <p:nvPr/>
        </p:nvSpPr>
        <p:spPr>
          <a:xfrm>
            <a:off x="362712" y="144077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achados</a:t>
            </a:r>
            <a:endParaRPr lang="en-US" sz="3000" dirty="0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6E6960E9-1C88-0367-7238-A17C3ACD5BDC}"/>
              </a:ext>
            </a:extLst>
          </p:cNvPr>
          <p:cNvGrpSpPr/>
          <p:nvPr/>
        </p:nvGrpSpPr>
        <p:grpSpPr>
          <a:xfrm>
            <a:off x="838200" y="2794000"/>
            <a:ext cx="3246120" cy="1828800"/>
            <a:chOff x="838200" y="2794000"/>
            <a:chExt cx="3246120" cy="1828800"/>
          </a:xfrm>
        </p:grpSpPr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E8F9428E-9F71-A9A6-50CB-12A5F6DD7C99}"/>
                </a:ext>
              </a:extLst>
            </p:cNvPr>
            <p:cNvSpPr/>
            <p:nvPr/>
          </p:nvSpPr>
          <p:spPr>
            <a:xfrm>
              <a:off x="838200" y="2794000"/>
              <a:ext cx="3246120" cy="1828800"/>
            </a:xfrm>
            <a:prstGeom prst="roundRect">
              <a:avLst>
                <a:gd name="adj" fmla="val 4000"/>
              </a:avLst>
            </a:prstGeom>
            <a:solidFill>
              <a:srgbClr val="061B31">
                <a:alpha val="88000"/>
              </a:srgbClr>
            </a:solidFill>
            <a:ln w="12700">
              <a:solidFill>
                <a:srgbClr val="235079">
                  <a:alpha val="80000"/>
                </a:srgbClr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8BE4BD5A-E0C8-F7ED-4646-F81CA43B0843}"/>
                </a:ext>
              </a:extLst>
            </p:cNvPr>
            <p:cNvSpPr/>
            <p:nvPr/>
          </p:nvSpPr>
          <p:spPr>
            <a:xfrm>
              <a:off x="856488" y="2867152"/>
              <a:ext cx="50292" cy="1682496"/>
            </a:xfrm>
            <a:prstGeom prst="rect">
              <a:avLst/>
            </a:prstGeom>
            <a:solidFill>
              <a:srgbClr val="2EA7FF"/>
            </a:solidFill>
            <a:ln w="12700">
              <a:solidFill>
                <a:srgbClr val="2EA7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CC2BD9AE-BF63-0D72-06B3-BEFB796F76DC}"/>
                </a:ext>
              </a:extLst>
            </p:cNvPr>
            <p:cNvSpPr/>
            <p:nvPr/>
          </p:nvSpPr>
          <p:spPr>
            <a:xfrm>
              <a:off x="1039368" y="2958592"/>
              <a:ext cx="28986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Dados e </a:t>
              </a:r>
              <a:r>
                <a:rPr lang="en-US" sz="1400" b="1" dirty="0" err="1">
                  <a:solidFill>
                    <a:srgbClr val="FFFFFF"/>
                  </a:solidFill>
                </a:rPr>
                <a:t>contexto</a:t>
              </a:r>
              <a:r>
                <a:rPr lang="en-US" sz="1400" b="1" dirty="0">
                  <a:solidFill>
                    <a:srgbClr val="FFFFFF"/>
                  </a:solidFill>
                </a:rPr>
                <a:t> de </a:t>
              </a:r>
              <a:r>
                <a:rPr lang="en-US" sz="1400" b="1" dirty="0" err="1">
                  <a:solidFill>
                    <a:srgbClr val="FFFFFF"/>
                  </a:solidFill>
                </a:rPr>
                <a:t>negócio</a:t>
              </a:r>
              <a:r>
                <a:rPr lang="en-US" sz="1400" b="1" dirty="0">
                  <a:solidFill>
                    <a:srgbClr val="FFFFFF"/>
                  </a:solidFill>
                </a:rPr>
                <a:t> - 1</a:t>
              </a:r>
              <a:endParaRPr lang="en-US" sz="1400" dirty="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7B9194CF-2F1C-0C41-D28C-05189249A106}"/>
                </a:ext>
              </a:extLst>
            </p:cNvPr>
            <p:cNvSpPr/>
            <p:nvPr/>
          </p:nvSpPr>
          <p:spPr>
            <a:xfrm>
              <a:off x="1039368" y="3324352"/>
              <a:ext cx="2862072" cy="11430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>
                <a:buNone/>
              </a:pPr>
              <a:r>
                <a:rPr lang="en-US" sz="1050" dirty="0" err="1">
                  <a:solidFill>
                    <a:srgbClr val="B9C7D6"/>
                  </a:solidFill>
                </a:rPr>
                <a:t>Relatórios</a:t>
              </a:r>
              <a:r>
                <a:rPr lang="en-US" sz="1050" dirty="0">
                  <a:solidFill>
                    <a:srgbClr val="B9C7D6"/>
                  </a:solidFill>
                </a:rPr>
                <a:t> PEDE </a:t>
              </a:r>
              <a:r>
                <a:rPr lang="en-US" sz="1050" dirty="0" err="1">
                  <a:solidFill>
                    <a:srgbClr val="B9C7D6"/>
                  </a:solidFill>
                </a:rPr>
                <a:t>indicam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alta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capacidade</a:t>
              </a:r>
              <a:r>
                <a:rPr lang="en-US" sz="1050" dirty="0">
                  <a:solidFill>
                    <a:srgbClr val="B9C7D6"/>
                  </a:solidFill>
                </a:rPr>
                <a:t> de entrada, mas </a:t>
              </a:r>
              <a:r>
                <a:rPr lang="en-US" sz="1050" dirty="0" err="1">
                  <a:solidFill>
                    <a:srgbClr val="B9C7D6"/>
                  </a:solidFill>
                </a:rPr>
                <a:t>também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enfrenta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desafio</a:t>
              </a:r>
              <a:r>
                <a:rPr lang="en-US" sz="1050" dirty="0">
                  <a:solidFill>
                    <a:srgbClr val="B9C7D6"/>
                  </a:solidFill>
                </a:rPr>
                <a:t> de </a:t>
              </a:r>
              <a:r>
                <a:rPr lang="en-US" sz="1050" dirty="0" err="1">
                  <a:solidFill>
                    <a:srgbClr val="B9C7D6"/>
                  </a:solidFill>
                </a:rPr>
                <a:t>retenção</a:t>
              </a:r>
              <a:r>
                <a:rPr lang="en-US" sz="1050" dirty="0">
                  <a:solidFill>
                    <a:srgbClr val="B9C7D6"/>
                  </a:solidFill>
                </a:rPr>
                <a:t>.</a:t>
              </a:r>
            </a:p>
            <a:p>
              <a:pPr marL="0" indent="0">
                <a:buNone/>
              </a:pPr>
              <a:r>
                <a:rPr lang="en-US" sz="1050" dirty="0" err="1">
                  <a:solidFill>
                    <a:srgbClr val="B9C7D6"/>
                  </a:solidFill>
                </a:rPr>
                <a:t>Evasao</a:t>
              </a:r>
              <a:r>
                <a:rPr lang="en-US" sz="1050" dirty="0">
                  <a:solidFill>
                    <a:srgbClr val="B9C7D6"/>
                  </a:solidFill>
                </a:rPr>
                <a:t> 2021-22 = 25% (205 </a:t>
              </a:r>
              <a:r>
                <a:rPr lang="en-US" sz="1050" dirty="0" err="1">
                  <a:solidFill>
                    <a:srgbClr val="B9C7D6"/>
                  </a:solidFill>
                </a:rPr>
                <a:t>alunos</a:t>
              </a:r>
              <a:r>
                <a:rPr lang="en-US" sz="1050" dirty="0">
                  <a:solidFill>
                    <a:srgbClr val="B9C7D6"/>
                  </a:solidFill>
                </a:rPr>
                <a:t>).</a:t>
              </a:r>
            </a:p>
            <a:p>
              <a:pPr marL="0" indent="0">
                <a:buNone/>
              </a:pPr>
              <a:endParaRPr lang="en-US" sz="1050" dirty="0"/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691C17EB-7869-E412-9ECB-4C8D25D5DA12}"/>
              </a:ext>
            </a:extLst>
          </p:cNvPr>
          <p:cNvGrpSpPr/>
          <p:nvPr/>
        </p:nvGrpSpPr>
        <p:grpSpPr>
          <a:xfrm>
            <a:off x="4587240" y="2794000"/>
            <a:ext cx="3246120" cy="1828800"/>
            <a:chOff x="4587240" y="2794000"/>
            <a:chExt cx="3246120" cy="1828800"/>
          </a:xfrm>
        </p:grpSpPr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70A8DE1C-07BF-26A7-C37C-AF216B08B56A}"/>
                </a:ext>
              </a:extLst>
            </p:cNvPr>
            <p:cNvSpPr/>
            <p:nvPr/>
          </p:nvSpPr>
          <p:spPr>
            <a:xfrm>
              <a:off x="4587240" y="2794000"/>
              <a:ext cx="3246120" cy="1828800"/>
            </a:xfrm>
            <a:prstGeom prst="roundRect">
              <a:avLst>
                <a:gd name="adj" fmla="val 4000"/>
              </a:avLst>
            </a:prstGeom>
            <a:solidFill>
              <a:srgbClr val="061B31">
                <a:alpha val="88000"/>
              </a:srgbClr>
            </a:solidFill>
            <a:ln w="12700">
              <a:solidFill>
                <a:srgbClr val="235079">
                  <a:alpha val="80000"/>
                </a:srgbClr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B6C83F8A-1A0F-3250-7E7E-5A7BBDD0345D}"/>
                </a:ext>
              </a:extLst>
            </p:cNvPr>
            <p:cNvGrpSpPr/>
            <p:nvPr/>
          </p:nvGrpSpPr>
          <p:grpSpPr>
            <a:xfrm>
              <a:off x="4605528" y="2867152"/>
              <a:ext cx="3081528" cy="1682496"/>
              <a:chOff x="4605528" y="2867152"/>
              <a:chExt cx="3081528" cy="1682496"/>
            </a:xfrm>
          </p:grpSpPr>
          <p:sp>
            <p:nvSpPr>
              <p:cNvPr id="20" name="Shape 10">
                <a:extLst>
                  <a:ext uri="{FF2B5EF4-FFF2-40B4-BE49-F238E27FC236}">
                    <a16:creationId xmlns:a16="http://schemas.microsoft.com/office/drawing/2014/main" id="{BB3D2CBE-9A43-CA46-F502-2A6807C12130}"/>
                  </a:ext>
                </a:extLst>
              </p:cNvPr>
              <p:cNvSpPr/>
              <p:nvPr/>
            </p:nvSpPr>
            <p:spPr>
              <a:xfrm>
                <a:off x="4605528" y="2867152"/>
                <a:ext cx="50292" cy="1682496"/>
              </a:xfrm>
              <a:prstGeom prst="rect">
                <a:avLst/>
              </a:prstGeom>
              <a:solidFill>
                <a:srgbClr val="FFD166"/>
              </a:solidFill>
              <a:ln w="12700">
                <a:solidFill>
                  <a:srgbClr val="FFD166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1" name="Text 11">
                <a:extLst>
                  <a:ext uri="{FF2B5EF4-FFF2-40B4-BE49-F238E27FC236}">
                    <a16:creationId xmlns:a16="http://schemas.microsoft.com/office/drawing/2014/main" id="{E813C358-9E82-C9FE-7512-56FD2E926965}"/>
                  </a:ext>
                </a:extLst>
              </p:cNvPr>
              <p:cNvSpPr/>
              <p:nvPr/>
            </p:nvSpPr>
            <p:spPr>
              <a:xfrm>
                <a:off x="4788408" y="2958592"/>
                <a:ext cx="2898648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en-US" sz="1400" b="1" dirty="0">
                    <a:solidFill>
                      <a:srgbClr val="FFFFFF"/>
                    </a:solidFill>
                  </a:rPr>
                  <a:t>Dados e </a:t>
                </a:r>
                <a:r>
                  <a:rPr lang="en-US" sz="1400" b="1" dirty="0" err="1">
                    <a:solidFill>
                      <a:srgbClr val="FFFFFF"/>
                    </a:solidFill>
                  </a:rPr>
                  <a:t>contexto</a:t>
                </a:r>
                <a:r>
                  <a:rPr lang="en-US" sz="1400" b="1" dirty="0">
                    <a:solidFill>
                      <a:srgbClr val="FFFFFF"/>
                    </a:solidFill>
                  </a:rPr>
                  <a:t> de </a:t>
                </a:r>
                <a:r>
                  <a:rPr lang="en-US" sz="1400" b="1" dirty="0" err="1">
                    <a:solidFill>
                      <a:srgbClr val="FFFFFF"/>
                    </a:solidFill>
                  </a:rPr>
                  <a:t>negócio</a:t>
                </a:r>
                <a:r>
                  <a:rPr lang="en-US" sz="1400" b="1" dirty="0">
                    <a:solidFill>
                      <a:srgbClr val="FFFFFF"/>
                    </a:solidFill>
                  </a:rPr>
                  <a:t> - 2</a:t>
                </a:r>
                <a:endParaRPr lang="en-US" sz="1400" dirty="0"/>
              </a:p>
            </p:txBody>
          </p:sp>
          <p:sp>
            <p:nvSpPr>
              <p:cNvPr id="22" name="Text 12">
                <a:extLst>
                  <a:ext uri="{FF2B5EF4-FFF2-40B4-BE49-F238E27FC236}">
                    <a16:creationId xmlns:a16="http://schemas.microsoft.com/office/drawing/2014/main" id="{0BD00670-DFEA-5E6F-3F9D-A451ED9A39B5}"/>
                  </a:ext>
                </a:extLst>
              </p:cNvPr>
              <p:cNvSpPr/>
              <p:nvPr/>
            </p:nvSpPr>
            <p:spPr>
              <a:xfrm>
                <a:off x="4779264" y="3187192"/>
                <a:ext cx="2862072" cy="1143000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050" dirty="0" err="1">
                    <a:solidFill>
                      <a:srgbClr val="B9C7D6"/>
                    </a:solidFill>
                  </a:rPr>
                  <a:t>Distribuição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por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fase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sugere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estrutura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semelhante</a:t>
                </a:r>
                <a:r>
                  <a:rPr lang="en-US" sz="1050" dirty="0">
                    <a:solidFill>
                      <a:srgbClr val="B9C7D6"/>
                    </a:solidFill>
                  </a:rPr>
                  <a:t> a um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funil</a:t>
                </a:r>
                <a:r>
                  <a:rPr lang="en-US" sz="1050" dirty="0">
                    <a:solidFill>
                      <a:srgbClr val="B9C7D6"/>
                    </a:solidFill>
                  </a:rPr>
                  <a:t>,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maior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concetração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na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base (Alfa e Fase 1, 58%), e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menor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presença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relativa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nas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fases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</a:t>
                </a:r>
                <a:r>
                  <a:rPr lang="en-US" sz="1050" dirty="0" err="1">
                    <a:solidFill>
                      <a:srgbClr val="B9C7D6"/>
                    </a:solidFill>
                  </a:rPr>
                  <a:t>avançadas</a:t>
                </a:r>
                <a:r>
                  <a:rPr lang="en-US" sz="1050" dirty="0">
                    <a:solidFill>
                      <a:srgbClr val="B9C7D6"/>
                    </a:solidFill>
                  </a:rPr>
                  <a:t> (5,6 e 7, 26% e 8, 3%).</a:t>
                </a:r>
              </a:p>
              <a:p>
                <a:pPr marL="0" indent="0">
                  <a:buNone/>
                </a:pPr>
                <a:endParaRPr lang="en-US" sz="1050" dirty="0">
                  <a:solidFill>
                    <a:srgbClr val="B9C7D6"/>
                  </a:solidFill>
                </a:endParaRPr>
              </a:p>
            </p:txBody>
          </p:sp>
        </p:grp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EDFDD67-2B52-1690-2CC2-2FF4CFA98C41}"/>
              </a:ext>
            </a:extLst>
          </p:cNvPr>
          <p:cNvGrpSpPr/>
          <p:nvPr/>
        </p:nvGrpSpPr>
        <p:grpSpPr>
          <a:xfrm>
            <a:off x="8336280" y="2794000"/>
            <a:ext cx="3246120" cy="1828800"/>
            <a:chOff x="8336280" y="2794000"/>
            <a:chExt cx="3246120" cy="1828800"/>
          </a:xfrm>
        </p:grpSpPr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9C02CA65-B76D-28BC-8545-89861554C2F1}"/>
                </a:ext>
              </a:extLst>
            </p:cNvPr>
            <p:cNvSpPr/>
            <p:nvPr/>
          </p:nvSpPr>
          <p:spPr>
            <a:xfrm>
              <a:off x="8336280" y="2794000"/>
              <a:ext cx="3246120" cy="1828800"/>
            </a:xfrm>
            <a:prstGeom prst="roundRect">
              <a:avLst>
                <a:gd name="adj" fmla="val 4000"/>
              </a:avLst>
            </a:prstGeom>
            <a:solidFill>
              <a:srgbClr val="061B31">
                <a:alpha val="88000"/>
              </a:srgbClr>
            </a:solidFill>
            <a:ln w="12700">
              <a:solidFill>
                <a:srgbClr val="235079">
                  <a:alpha val="80000"/>
                </a:srgbClr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03416961-F5C8-3D48-D292-82B0BAA8080D}"/>
                </a:ext>
              </a:extLst>
            </p:cNvPr>
            <p:cNvSpPr/>
            <p:nvPr/>
          </p:nvSpPr>
          <p:spPr>
            <a:xfrm>
              <a:off x="8354568" y="2867152"/>
              <a:ext cx="50292" cy="1682496"/>
            </a:xfrm>
            <a:prstGeom prst="rect">
              <a:avLst/>
            </a:prstGeom>
            <a:solidFill>
              <a:srgbClr val="65E4A3"/>
            </a:solidFill>
            <a:ln w="12700">
              <a:solidFill>
                <a:srgbClr val="65E4A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2B41745B-37ED-99DE-A408-0808995A1235}"/>
                </a:ext>
              </a:extLst>
            </p:cNvPr>
            <p:cNvSpPr/>
            <p:nvPr/>
          </p:nvSpPr>
          <p:spPr>
            <a:xfrm>
              <a:off x="8537448" y="2958592"/>
              <a:ext cx="28986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400" b="1" dirty="0">
                  <a:solidFill>
                    <a:srgbClr val="FFFFFF"/>
                  </a:solidFill>
                </a:rPr>
                <a:t>Dados e </a:t>
              </a:r>
              <a:r>
                <a:rPr lang="en-US" sz="1400" b="1" dirty="0" err="1">
                  <a:solidFill>
                    <a:srgbClr val="FFFFFF"/>
                  </a:solidFill>
                </a:rPr>
                <a:t>contexto</a:t>
              </a:r>
              <a:r>
                <a:rPr lang="en-US" sz="1400" b="1" dirty="0">
                  <a:solidFill>
                    <a:srgbClr val="FFFFFF"/>
                  </a:solidFill>
                </a:rPr>
                <a:t> de </a:t>
              </a:r>
              <a:r>
                <a:rPr lang="en-US" sz="1400" b="1" dirty="0" err="1">
                  <a:solidFill>
                    <a:srgbClr val="FFFFFF"/>
                  </a:solidFill>
                </a:rPr>
                <a:t>negócio</a:t>
              </a:r>
              <a:r>
                <a:rPr lang="en-US" sz="1400" b="1" dirty="0">
                  <a:solidFill>
                    <a:srgbClr val="FFFFFF"/>
                  </a:solidFill>
                </a:rPr>
                <a:t> - 3</a:t>
              </a:r>
              <a:endParaRPr lang="en-US" sz="1400" dirty="0"/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566A4A99-2EA2-DF00-1B9C-3930602F3DF9}"/>
                </a:ext>
              </a:extLst>
            </p:cNvPr>
            <p:cNvSpPr/>
            <p:nvPr/>
          </p:nvSpPr>
          <p:spPr>
            <a:xfrm>
              <a:off x="8537448" y="3324352"/>
              <a:ext cx="2862072" cy="114300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r>
                <a:rPr lang="en-US" sz="1050" dirty="0" err="1">
                  <a:solidFill>
                    <a:srgbClr val="B9C7D6"/>
                  </a:solidFill>
                </a:rPr>
                <a:t>Associação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atende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majoritariamente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escolas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públicas</a:t>
              </a:r>
              <a:r>
                <a:rPr lang="en-US" sz="1050" dirty="0">
                  <a:solidFill>
                    <a:srgbClr val="B9C7D6"/>
                  </a:solidFill>
                </a:rPr>
                <a:t> (PEDE 22 81%).</a:t>
              </a:r>
            </a:p>
            <a:p>
              <a:endParaRPr lang="en-US" sz="1050" dirty="0">
                <a:solidFill>
                  <a:srgbClr val="B9C7D6"/>
                </a:solidFill>
              </a:endParaRPr>
            </a:p>
            <a:p>
              <a:r>
                <a:rPr lang="en-US" sz="1050" dirty="0" err="1">
                  <a:solidFill>
                    <a:srgbClr val="B9C7D6"/>
                  </a:solidFill>
                </a:rPr>
                <a:t>Hipótese</a:t>
              </a:r>
              <a:r>
                <a:rPr lang="en-US" sz="1050" dirty="0">
                  <a:solidFill>
                    <a:srgbClr val="B9C7D6"/>
                  </a:solidFill>
                </a:rPr>
                <a:t>: </a:t>
              </a:r>
              <a:r>
                <a:rPr lang="en-US" sz="1050" dirty="0" err="1">
                  <a:solidFill>
                    <a:srgbClr val="B9C7D6"/>
                  </a:solidFill>
                </a:rPr>
                <a:t>permanência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depende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não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apenas</a:t>
              </a:r>
              <a:r>
                <a:rPr lang="en-US" sz="1050" dirty="0">
                  <a:solidFill>
                    <a:srgbClr val="B9C7D6"/>
                  </a:solidFill>
                </a:rPr>
                <a:t> da </a:t>
              </a:r>
              <a:r>
                <a:rPr lang="en-US" sz="1050" dirty="0" err="1">
                  <a:solidFill>
                    <a:srgbClr val="B9C7D6"/>
                  </a:solidFill>
                </a:rPr>
                <a:t>qualidade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pedagógica</a:t>
              </a:r>
              <a:r>
                <a:rPr lang="en-US" sz="1050" dirty="0">
                  <a:solidFill>
                    <a:srgbClr val="B9C7D6"/>
                  </a:solidFill>
                </a:rPr>
                <a:t>, mas </a:t>
              </a:r>
              <a:r>
                <a:rPr lang="en-US" sz="1050" dirty="0" err="1">
                  <a:solidFill>
                    <a:srgbClr val="B9C7D6"/>
                  </a:solidFill>
                </a:rPr>
                <a:t>também</a:t>
              </a:r>
              <a:r>
                <a:rPr lang="en-US" sz="1050" dirty="0">
                  <a:solidFill>
                    <a:srgbClr val="B9C7D6"/>
                  </a:solidFill>
                </a:rPr>
                <a:t> da </a:t>
              </a:r>
              <a:r>
                <a:rPr lang="en-US" sz="1050" dirty="0" err="1">
                  <a:solidFill>
                    <a:srgbClr val="B9C7D6"/>
                  </a:solidFill>
                </a:rPr>
                <a:t>capacidade</a:t>
              </a:r>
              <a:r>
                <a:rPr lang="en-US" sz="1050" dirty="0">
                  <a:solidFill>
                    <a:srgbClr val="B9C7D6"/>
                  </a:solidFill>
                </a:rPr>
                <a:t> do </a:t>
              </a:r>
              <a:r>
                <a:rPr lang="en-US" sz="1050" dirty="0" err="1">
                  <a:solidFill>
                    <a:srgbClr val="B9C7D6"/>
                  </a:solidFill>
                </a:rPr>
                <a:t>aluno</a:t>
              </a:r>
              <a:r>
                <a:rPr lang="en-US" sz="1050" dirty="0">
                  <a:solidFill>
                    <a:srgbClr val="B9C7D6"/>
                  </a:solidFill>
                </a:rPr>
                <a:t> de conciliar </a:t>
              </a:r>
              <a:r>
                <a:rPr lang="en-US" sz="1050" dirty="0" err="1">
                  <a:solidFill>
                    <a:srgbClr val="B9C7D6"/>
                  </a:solidFill>
                </a:rPr>
                <a:t>escola</a:t>
              </a:r>
              <a:r>
                <a:rPr lang="en-US" sz="1050" dirty="0">
                  <a:solidFill>
                    <a:srgbClr val="B9C7D6"/>
                  </a:solidFill>
                </a:rPr>
                <a:t> regular com </a:t>
              </a:r>
              <a:r>
                <a:rPr lang="en-US" sz="1050" dirty="0" err="1">
                  <a:solidFill>
                    <a:srgbClr val="B9C7D6"/>
                  </a:solidFill>
                </a:rPr>
                <a:t>atividades</a:t>
              </a:r>
              <a:r>
                <a:rPr lang="en-US" sz="1050" dirty="0">
                  <a:solidFill>
                    <a:srgbClr val="B9C7D6"/>
                  </a:solidFill>
                </a:rPr>
                <a:t> </a:t>
              </a:r>
              <a:r>
                <a:rPr lang="en-US" sz="1050" dirty="0" err="1">
                  <a:solidFill>
                    <a:srgbClr val="B9C7D6"/>
                  </a:solidFill>
                </a:rPr>
                <a:t>complementares</a:t>
              </a:r>
              <a:r>
                <a:rPr lang="en-US" sz="1050" dirty="0">
                  <a:solidFill>
                    <a:srgbClr val="B9C7D6"/>
                  </a:solidFill>
                </a:rPr>
                <a:t> da </a:t>
              </a:r>
              <a:r>
                <a:rPr lang="en-US" sz="1050" dirty="0" err="1">
                  <a:solidFill>
                    <a:srgbClr val="B9C7D6"/>
                  </a:solidFill>
                </a:rPr>
                <a:t>Associação</a:t>
              </a:r>
              <a:r>
                <a:rPr lang="en-US" sz="1050" dirty="0">
                  <a:solidFill>
                    <a:srgbClr val="B9C7D6"/>
                  </a:solidFill>
                </a:rPr>
                <a:t>.</a:t>
              </a:r>
              <a:endParaRPr lang="en-US" sz="1050" dirty="0"/>
            </a:p>
          </p:txBody>
        </p:sp>
      </p:grpSp>
      <p:sp>
        <p:nvSpPr>
          <p:cNvPr id="30" name="Text 20">
            <a:extLst>
              <a:ext uri="{FF2B5EF4-FFF2-40B4-BE49-F238E27FC236}">
                <a16:creationId xmlns:a16="http://schemas.microsoft.com/office/drawing/2014/main" id="{AA404BD0-2C85-9974-64ED-AF8E3DB1C0C2}"/>
              </a:ext>
            </a:extLst>
          </p:cNvPr>
          <p:cNvSpPr/>
          <p:nvPr/>
        </p:nvSpPr>
        <p:spPr>
          <a:xfrm>
            <a:off x="11445240" y="65989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7D6"/>
                </a:solidFill>
              </a:rPr>
              <a:t>06</a:t>
            </a:r>
            <a:endParaRPr lang="en-US" sz="8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B503630-DD78-7691-3DFA-8140EA9DDD06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0585D-41A0-FAA4-4AF1-489C42F1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F28940-DD8F-7AC0-2029-FC10EDA9D70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17">
              <a:alpha val="78000"/>
            </a:srgbClr>
          </a:solidFill>
          <a:ln w="12700">
            <a:solidFill>
              <a:srgbClr val="0309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B6C898-6CF7-38F2-C77D-9CCC4A1F8E9D}"/>
              </a:ext>
            </a:extLst>
          </p:cNvPr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A7FF"/>
          </a:solidFill>
          <a:ln w="12700">
            <a:solidFill>
              <a:srgbClr val="2EA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A8A0EC9-E6AD-C834-0F30-882481D1C88F}"/>
              </a:ext>
            </a:extLst>
          </p:cNvPr>
          <p:cNvSpPr/>
          <p:nvPr/>
        </p:nvSpPr>
        <p:spPr>
          <a:xfrm>
            <a:off x="4376928" y="124342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</a:t>
            </a:r>
            <a:endParaRPr lang="en-US" sz="4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3298E9-80D8-1D65-A530-FC48ABA22789}"/>
              </a:ext>
            </a:extLst>
          </p:cNvPr>
          <p:cNvSpPr/>
          <p:nvPr/>
        </p:nvSpPr>
        <p:spPr>
          <a:xfrm>
            <a:off x="4404360" y="192922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AF6FF"/>
                </a:solidFill>
              </a:rPr>
              <a:t>Perguntas e discussão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32575F-70FB-533A-3F89-E8FE5EF82248}"/>
              </a:ext>
            </a:extLst>
          </p:cNvPr>
          <p:cNvSpPr/>
          <p:nvPr/>
        </p:nvSpPr>
        <p:spPr>
          <a:xfrm>
            <a:off x="4571140" y="59664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7D6"/>
                </a:solidFill>
              </a:rPr>
              <a:t>Risco de Defasagem | FIAP + Passos Mágicos</a:t>
            </a:r>
            <a:endParaRPr lang="en-US" sz="105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279A0B0-9ABE-39F2-54D5-8497F3C1DE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71" t="12555" r="32362" b="26449"/>
          <a:stretch>
            <a:fillRect/>
          </a:stretch>
        </p:blipFill>
        <p:spPr>
          <a:xfrm>
            <a:off x="351869" y="2486358"/>
            <a:ext cx="3006793" cy="2492767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621CC7E9-B737-7228-91E2-58D7BA3686D9}"/>
              </a:ext>
            </a:extLst>
          </p:cNvPr>
          <p:cNvGrpSpPr>
            <a:grpSpLocks noChangeAspect="1"/>
          </p:cNvGrpSpPr>
          <p:nvPr/>
        </p:nvGrpSpPr>
        <p:grpSpPr>
          <a:xfrm>
            <a:off x="7432536" y="2706414"/>
            <a:ext cx="4136624" cy="2052654"/>
            <a:chOff x="307910" y="1699121"/>
            <a:chExt cx="1893050" cy="1044157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194411DA-43EF-4EB8-2810-983F393EF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236" t="27779" r="47601" b="51129"/>
            <a:stretch>
              <a:fillRect/>
            </a:stretch>
          </p:blipFill>
          <p:spPr>
            <a:xfrm>
              <a:off x="307910" y="1699121"/>
              <a:ext cx="657289" cy="978842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F942E1B4-0BA0-2BAB-9E06-8F1593C25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559" t="42801" b="1261"/>
            <a:stretch>
              <a:fillRect/>
            </a:stretch>
          </p:blipFill>
          <p:spPr>
            <a:xfrm>
              <a:off x="815309" y="2040575"/>
              <a:ext cx="1385651" cy="702703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55866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53.2|0.9|53|0.7|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8.2|0.6|5|0.6|18.2|1.1|25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77.9|0.8|7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28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2.4|1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1683</Words>
  <Application>Microsoft Office PowerPoint</Application>
  <PresentationFormat>Widescreen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 + Passos Mágicos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Risco de Defasagem</dc:title>
  <dc:subject>Risco de Defasagem - layout template</dc:subject>
  <dc:creator>OpenAI</dc:creator>
  <cp:lastModifiedBy>ANDRE LUIZ PEREIRA COIMBRA</cp:lastModifiedBy>
  <cp:revision>32</cp:revision>
  <dcterms:created xsi:type="dcterms:W3CDTF">2026-05-15T02:51:07Z</dcterms:created>
  <dcterms:modified xsi:type="dcterms:W3CDTF">2026-05-16T02:44:53Z</dcterms:modified>
</cp:coreProperties>
</file>